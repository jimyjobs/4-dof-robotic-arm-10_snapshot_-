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2C3440"/>
          </a:solidFill>
          <a:ln/>
        </p:spPr>
      </p:sp>
      <p:pic>
        <p:nvPicPr>
          <p:cNvPr id="3" name="Image 0" descr="logo.png">    </p:cNvPr>
          <p:cNvPicPr>
            <a:picLocks noChangeAspect="1"/>
          </p:cNvPicPr>
          <p:nvPr/>
        </p:nvPicPr>
        <p:blipFill>
          <a:blip r:embed="rId1"/>
          <a:stretch>
            <a:fillRect/>
          </a:stretch>
        </p:blipFill>
        <p:spPr>
          <a:xfrm>
            <a:off x="8732520" y="640080"/>
            <a:ext cx="1920240" cy="1920240"/>
          </a:xfrm>
          <a:prstGeom prst="rect">
            <a:avLst/>
          </a:prstGeom>
        </p:spPr>
      </p:pic>
      <p:sp>
        <p:nvSpPr>
          <p:cNvPr id="4" name="Text 1"/>
          <p:cNvSpPr/>
          <p:nvPr/>
        </p:nvSpPr>
        <p:spPr>
          <a:xfrm>
            <a:off x="8138160" y="2743200"/>
            <a:ext cx="3840480" cy="365760"/>
          </a:xfrm>
          <a:prstGeom prst="rect">
            <a:avLst/>
          </a:prstGeom>
          <a:noFill/>
          <a:ln/>
        </p:spPr>
        <p:txBody>
          <a:bodyPr wrap="square" rtlCol="0" anchor="ctr"/>
          <a:lstStyle/>
          <a:p>
            <a:pPr algn="ctr" indent="0" marL="0">
              <a:buNone/>
            </a:pPr>
            <a:r>
              <a:rPr lang="en-US" sz="1300" b="1" spc="150" kern="0" dirty="0">
                <a:solidFill>
                  <a:srgbClr val="F4F4F2"/>
                </a:solidFill>
                <a:latin typeface="Calibri" pitchFamily="34" charset="0"/>
                <a:ea typeface="Calibri" pitchFamily="34" charset="-122"/>
                <a:cs typeface="Calibri" pitchFamily="34" charset="-120"/>
              </a:rPr>
              <a:t>UNIVERSITY OF DODOMA</a:t>
            </a:r>
            <a:endParaRPr lang="en-US" sz="1300" dirty="0"/>
          </a:p>
        </p:txBody>
      </p:sp>
      <p:sp>
        <p:nvSpPr>
          <p:cNvPr id="5" name="Text 2"/>
          <p:cNvSpPr/>
          <p:nvPr/>
        </p:nvSpPr>
        <p:spPr>
          <a:xfrm>
            <a:off x="8138160" y="3154680"/>
            <a:ext cx="3840480" cy="640080"/>
          </a:xfrm>
          <a:prstGeom prst="rect">
            <a:avLst/>
          </a:prstGeom>
          <a:noFill/>
          <a:ln/>
        </p:spPr>
        <p:txBody>
          <a:bodyPr wrap="square" rtlCol="0" anchor="ctr"/>
          <a:lstStyle/>
          <a:p>
            <a:pPr algn="ctr" indent="0" marL="0">
              <a:buNone/>
            </a:pPr>
            <a:r>
              <a:rPr lang="en-US" sz="1000" dirty="0">
                <a:solidFill>
                  <a:srgbClr val="A9B4C0"/>
                </a:solidFill>
                <a:latin typeface="Calibri" pitchFamily="34" charset="0"/>
                <a:ea typeface="Calibri" pitchFamily="34" charset="-122"/>
                <a:cs typeface="Calibri" pitchFamily="34" charset="-120"/>
              </a:rPr>
              <a:t>College of Informatics and Virtual Education</a:t>
            </a:r>
            <a:endParaRPr lang="en-US" sz="1000" dirty="0"/>
          </a:p>
          <a:p>
            <a:pPr algn="ctr" indent="0" marL="0">
              <a:buNone/>
            </a:pPr>
            <a:r>
              <a:rPr lang="en-US" sz="1000" dirty="0">
                <a:solidFill>
                  <a:srgbClr val="A9B4C0"/>
                </a:solidFill>
                <a:latin typeface="Calibri" pitchFamily="34" charset="0"/>
                <a:ea typeface="Calibri" pitchFamily="34" charset="-122"/>
                <a:cs typeface="Calibri" pitchFamily="34" charset="-120"/>
              </a:rPr>
              <a:t>Dept. of Computer Science &amp; Engineering</a:t>
            </a:r>
            <a:endParaRPr lang="en-US" sz="1000" dirty="0"/>
          </a:p>
        </p:txBody>
      </p:sp>
      <p:sp>
        <p:nvSpPr>
          <p:cNvPr id="6" name="Text 3"/>
          <p:cNvSpPr/>
          <p:nvPr/>
        </p:nvSpPr>
        <p:spPr>
          <a:xfrm>
            <a:off x="640080" y="1188720"/>
            <a:ext cx="3657600" cy="457200"/>
          </a:xfrm>
          <a:prstGeom prst="rect">
            <a:avLst/>
          </a:prstGeom>
          <a:noFill/>
          <a:ln/>
        </p:spPr>
        <p:txBody>
          <a:bodyPr wrap="square" rtlCol="0" anchor="ctr"/>
          <a:lstStyle/>
          <a:p>
            <a:pPr indent="0" marL="0">
              <a:buNone/>
            </a:pPr>
            <a:r>
              <a:rPr lang="en-US" sz="1600" b="1" spc="200" kern="0" dirty="0">
                <a:solidFill>
                  <a:srgbClr val="FF6B35"/>
                </a:solidFill>
                <a:latin typeface="Calibri" pitchFamily="34" charset="0"/>
                <a:ea typeface="Calibri" pitchFamily="34" charset="-122"/>
                <a:cs typeface="Calibri" pitchFamily="34" charset="-120"/>
              </a:rPr>
              <a:t>CT322</a:t>
            </a:r>
            <a:endParaRPr lang="en-US" sz="1600" dirty="0"/>
          </a:p>
        </p:txBody>
      </p:sp>
      <p:sp>
        <p:nvSpPr>
          <p:cNvPr id="7" name="Text 4"/>
          <p:cNvSpPr/>
          <p:nvPr/>
        </p:nvSpPr>
        <p:spPr>
          <a:xfrm>
            <a:off x="640080" y="1600200"/>
            <a:ext cx="7132320" cy="45720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Robotics and Automation</a:t>
            </a:r>
            <a:endParaRPr lang="en-US" sz="1800" dirty="0"/>
          </a:p>
        </p:txBody>
      </p:sp>
      <p:sp>
        <p:nvSpPr>
          <p:cNvPr id="8" name="Text 5"/>
          <p:cNvSpPr/>
          <p:nvPr/>
        </p:nvSpPr>
        <p:spPr>
          <a:xfrm>
            <a:off x="594360" y="2286000"/>
            <a:ext cx="7315200" cy="182880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4-DOF Articulated</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Robotic Arm</a:t>
            </a:r>
            <a:endParaRPr lang="en-US" sz="4400" dirty="0"/>
          </a:p>
        </p:txBody>
      </p:sp>
      <p:sp>
        <p:nvSpPr>
          <p:cNvPr id="9" name="Text 6"/>
          <p:cNvSpPr/>
          <p:nvPr/>
        </p:nvSpPr>
        <p:spPr>
          <a:xfrm>
            <a:off x="640080" y="4160520"/>
            <a:ext cx="7223760" cy="731520"/>
          </a:xfrm>
          <a:prstGeom prst="rect">
            <a:avLst/>
          </a:prstGeom>
          <a:noFill/>
          <a:ln/>
        </p:spPr>
        <p:txBody>
          <a:bodyPr wrap="square" rtlCol="0" anchor="ctr"/>
          <a:lstStyle/>
          <a:p>
            <a:pPr indent="0" marL="0">
              <a:buNone/>
            </a:pPr>
            <a:r>
              <a:rPr lang="en-US" sz="1300" dirty="0">
                <a:solidFill>
                  <a:srgbClr val="A9B4C0"/>
                </a:solidFill>
                <a:latin typeface="Calibri" pitchFamily="34" charset="0"/>
                <a:ea typeface="Calibri" pitchFamily="34" charset="-122"/>
                <a:cs typeface="Calibri" pitchFamily="34" charset="-120"/>
              </a:rPr>
              <a:t>Group Assignment Report — CAD Assembly Inspection, Kinematic Structure,</a:t>
            </a:r>
            <a:endParaRPr lang="en-US" sz="1300" dirty="0"/>
          </a:p>
          <a:p>
            <a:pPr indent="0" marL="0">
              <a:buNone/>
            </a:pPr>
            <a:r>
              <a:rPr lang="en-US" sz="1300" dirty="0">
                <a:solidFill>
                  <a:srgbClr val="A9B4C0"/>
                </a:solidFill>
                <a:latin typeface="Calibri" pitchFamily="34" charset="0"/>
                <a:ea typeface="Calibri" pitchFamily="34" charset="-122"/>
                <a:cs typeface="Calibri" pitchFamily="34" charset="-120"/>
              </a:rPr>
              <a:t>and Motion Simulation Preparation</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40080" y="5074920"/>
          <a:ext cx="7223760" cy="914400"/>
        </p:xfrm>
        <a:graphic>
          <a:graphicData uri="http://schemas.openxmlformats.org/drawingml/2006/table">
            <a:tbl>
              <a:tblPr/>
              <a:tblGrid>
                <a:gridCol w="640080"/>
                <a:gridCol w="4206240"/>
                <a:gridCol w="2377440"/>
              </a:tblGrid>
              <a:tr h="292608">
                <a:tc>
                  <a:txBody>
                    <a:bodyPr/>
                    <a:lstStyle/>
                    <a:p>
                      <a:pPr algn="ctr" indent="0" marL="0">
                        <a:buNone/>
                      </a:pPr>
                      <a:r>
                        <a:rPr lang="en-US" sz="1100" b="1" dirty="0">
                          <a:solidFill>
                            <a:srgbClr val="FF6B35"/>
                          </a:solidFill>
                          <a:latin typeface="Calibri" pitchFamily="34" charset="0"/>
                          <a:ea typeface="Calibri" pitchFamily="34" charset="-122"/>
                          <a:cs typeface="Calibri" pitchFamily="34" charset="-120"/>
                        </a:rPr>
                        <a:t>S/N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3440"/>
                    </a:solidFill>
                  </a:tcPr>
                </a:tc>
                <a:tc>
                  <a:txBody>
                    <a:bodyPr/>
                    <a:lstStyle/>
                    <a:p>
                      <a:pPr algn="l" indent="0" marL="0">
                        <a:buNone/>
                      </a:pPr>
                      <a:r>
                        <a:rPr lang="en-US" sz="1100" b="1" dirty="0">
                          <a:solidFill>
                            <a:srgbClr val="FF6B35"/>
                          </a:solidFill>
                          <a:latin typeface="Calibri" pitchFamily="34" charset="0"/>
                          <a:ea typeface="Calibri" pitchFamily="34" charset="-122"/>
                          <a:cs typeface="Calibri" pitchFamily="34" charset="-120"/>
                        </a:rPr>
                        <a:t>GROUP MEMBER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3440"/>
                    </a:solidFill>
                  </a:tcPr>
                </a:tc>
                <a:tc>
                  <a:txBody>
                    <a:bodyPr/>
                    <a:lstStyle/>
                    <a:p>
                      <a:pPr algn="l" indent="0" marL="0">
                        <a:buNone/>
                      </a:pPr>
                      <a:r>
                        <a:rPr lang="en-US" sz="1100" b="1" dirty="0">
                          <a:solidFill>
                            <a:srgbClr val="FF6B35"/>
                          </a:solidFill>
                          <a:latin typeface="Calibri" pitchFamily="34" charset="0"/>
                          <a:ea typeface="Calibri" pitchFamily="34" charset="-122"/>
                          <a:cs typeface="Calibri" pitchFamily="34" charset="-120"/>
                        </a:rPr>
                        <a:t>REG. NUMBER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C3440"/>
                    </a:solidFill>
                  </a:tcPr>
                </a:tc>
              </a:tr>
              <a:tr h="292608">
                <a:tc>
                  <a:txBody>
                    <a:bodyPr/>
                    <a:lstStyle/>
                    <a:p>
                      <a:pPr algn="ctr" indent="0" marL="0">
                        <a:buNone/>
                      </a:pPr>
                      <a:r>
                        <a:rPr lang="en-US" sz="1100" dirty="0">
                          <a:solidFill>
                            <a:srgbClr val="DCE2E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Jim Job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T23-03-11228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r>
              <a:tr h="292608">
                <a:tc>
                  <a:txBody>
                    <a:bodyPr/>
                    <a:lstStyle/>
                    <a:p>
                      <a:pPr algn="ctr" indent="0" marL="0">
                        <a:buNone/>
                      </a:pPr>
                      <a:r>
                        <a:rPr lang="en-US" sz="1100" dirty="0">
                          <a:solidFill>
                            <a:srgbClr val="DCE2E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Nerusigwe Patrick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T23-03-17871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r>
              <a:tr h="292608">
                <a:tc>
                  <a:txBody>
                    <a:bodyPr/>
                    <a:lstStyle/>
                    <a:p>
                      <a:pPr algn="ctr" indent="0" marL="0">
                        <a:buNone/>
                      </a:pPr>
                      <a:r>
                        <a:rPr lang="en-US" sz="1100" dirty="0">
                          <a:solidFill>
                            <a:srgbClr val="DCE2E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Nasania Msengi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T23-03-00262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r>
              <a:tr h="292608">
                <a:tc>
                  <a:txBody>
                    <a:bodyPr/>
                    <a:lstStyle/>
                    <a:p>
                      <a:pPr algn="ctr" indent="0" marL="0">
                        <a:buNone/>
                      </a:pPr>
                      <a:r>
                        <a:rPr lang="en-US" sz="1100" dirty="0">
                          <a:solidFill>
                            <a:srgbClr val="DCE2E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Stephen Samwel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c>
                  <a:txBody>
                    <a:bodyPr/>
                    <a:lstStyle/>
                    <a:p>
                      <a:pPr algn="l" indent="0" marL="0">
                        <a:buNone/>
                      </a:pPr>
                      <a:r>
                        <a:rPr lang="en-US" sz="1100" dirty="0">
                          <a:solidFill>
                            <a:srgbClr val="DCE2E8"/>
                          </a:solidFill>
                          <a:latin typeface="Calibri" pitchFamily="34" charset="0"/>
                          <a:ea typeface="Calibri" pitchFamily="34" charset="-122"/>
                          <a:cs typeface="Calibri" pitchFamily="34" charset="-120"/>
                        </a:rPr>
                        <a:t>T23-03-01246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62B32"/>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01 · INTRODUCTION</a:t>
            </a:r>
            <a:endParaRPr lang="en-US" sz="1300" dirty="0"/>
          </a:p>
        </p:txBody>
      </p:sp>
      <p:sp>
        <p:nvSpPr>
          <p:cNvPr id="3" name="Text 1"/>
          <p:cNvSpPr/>
          <p:nvPr/>
        </p:nvSpPr>
        <p:spPr>
          <a:xfrm>
            <a:off x="548640" y="777240"/>
            <a:ext cx="7498080" cy="822960"/>
          </a:xfrm>
          <a:prstGeom prst="rect">
            <a:avLst/>
          </a:prstGeom>
          <a:noFill/>
          <a:ln/>
        </p:spPr>
        <p:txBody>
          <a:bodyPr wrap="square" rtlCol="0" anchor="ctr"/>
          <a:lstStyle/>
          <a:p>
            <a:pPr indent="0" marL="0">
              <a:buNone/>
            </a:pPr>
            <a:r>
              <a:rPr lang="en-US" sz="3000" b="1" dirty="0">
                <a:solidFill>
                  <a:srgbClr val="22262B"/>
                </a:solidFill>
                <a:latin typeface="Cambria" pitchFamily="34" charset="0"/>
                <a:ea typeface="Cambria" pitchFamily="34" charset="-122"/>
                <a:cs typeface="Cambria" pitchFamily="34" charset="-120"/>
              </a:rPr>
              <a:t>Bridging CAD Design and Robot Kinematics</a:t>
            </a:r>
            <a:endParaRPr lang="en-US" sz="3000" dirty="0"/>
          </a:p>
        </p:txBody>
      </p:sp>
      <p:sp>
        <p:nvSpPr>
          <p:cNvPr id="4" name="Text 2"/>
          <p:cNvSpPr/>
          <p:nvPr/>
        </p:nvSpPr>
        <p:spPr>
          <a:xfrm>
            <a:off x="548640" y="1783080"/>
            <a:ext cx="6309360" cy="4206240"/>
          </a:xfrm>
          <a:prstGeom prst="rect">
            <a:avLst/>
          </a:prstGeom>
          <a:noFill/>
          <a:ln/>
        </p:spPr>
        <p:txBody>
          <a:bodyPr wrap="square" rtlCol="0" anchor="t"/>
          <a:lstStyle/>
          <a:p>
            <a:pPr marL="342900" indent="-342900">
              <a:spcAft>
                <a:spcPts val="1400"/>
              </a:spcAft>
              <a:buSzPct val="100000"/>
              <a:buChar char="•"/>
            </a:pPr>
            <a:r>
              <a:rPr lang="en-US" sz="1500" dirty="0">
                <a:solidFill>
                  <a:srgbClr val="22262B"/>
                </a:solidFill>
                <a:latin typeface="Calibri" pitchFamily="34" charset="0"/>
                <a:ea typeface="Calibri" pitchFamily="34" charset="-122"/>
                <a:cs typeface="Calibri" pitchFamily="34" charset="-120"/>
              </a:rPr>
              <a:t>Robotics education increasingly relies on CAD models to bridge theoretical kinematics with physical robot structure.</a:t>
            </a:r>
            <a:endParaRPr lang="en-US" sz="1500" dirty="0"/>
          </a:p>
          <a:p>
            <a:pPr marL="342900" indent="-342900">
              <a:spcAft>
                <a:spcPts val="1400"/>
              </a:spcAft>
              <a:buSzPct val="100000"/>
              <a:buChar char="•"/>
            </a:pPr>
            <a:r>
              <a:rPr lang="en-US" sz="1500" dirty="0">
                <a:solidFill>
                  <a:srgbClr val="22262B"/>
                </a:solidFill>
                <a:latin typeface="Calibri" pitchFamily="34" charset="0"/>
                <a:ea typeface="Calibri" pitchFamily="34" charset="-122"/>
                <a:cs typeface="Calibri" pitchFamily="34" charset="-120"/>
              </a:rPr>
              <a:t>This assignment required inspecting a provided SolidWorks robot assembly, interpreting it as a functional robotics system, and preparing a motion demonstration in MATLAB / Simulink / Simscape Multibody.</a:t>
            </a:r>
            <a:endParaRPr lang="en-US" sz="1500" dirty="0"/>
          </a:p>
          <a:p>
            <a:pPr marL="342900" indent="-342900">
              <a:buSzPct val="100000"/>
              <a:buChar char="•"/>
            </a:pPr>
            <a:r>
              <a:rPr lang="en-US" sz="1500" dirty="0">
                <a:solidFill>
                  <a:srgbClr val="22262B"/>
                </a:solidFill>
                <a:latin typeface="Calibri" pitchFamily="34" charset="0"/>
                <a:ea typeface="Calibri" pitchFamily="34" charset="-122"/>
                <a:cs typeface="Calibri" pitchFamily="34" charset="-120"/>
              </a:rPr>
              <a:t>This report documents assembly inspection, structural classification, joint analysis, motion planning, simulation preparation, and a discussion of the robot's applications and limitations.</a:t>
            </a:r>
            <a:endParaRPr lang="en-US" sz="1500" dirty="0"/>
          </a:p>
        </p:txBody>
      </p:sp>
      <p:sp>
        <p:nvSpPr>
          <p:cNvPr id="5" name="Shape 3"/>
          <p:cNvSpPr/>
          <p:nvPr/>
        </p:nvSpPr>
        <p:spPr>
          <a:xfrm>
            <a:off x="7178040" y="1783080"/>
            <a:ext cx="4480560" cy="932688"/>
          </a:xfrm>
          <a:prstGeom prst="roundRect">
            <a:avLst>
              <a:gd name="adj" fmla="val 7843"/>
            </a:avLst>
          </a:prstGeom>
          <a:solidFill>
            <a:srgbClr val="FFFFFF"/>
          </a:solidFill>
          <a:ln w="12700">
            <a:solidFill>
              <a:srgbClr val="E4E7EB"/>
            </a:solidFill>
            <a:prstDash val="solid"/>
          </a:ln>
          <a:effectLst>
            <a:outerShdw sx="100000" sy="100000" kx="0" ky="0" algn="bl" rotWithShape="0" blurRad="76200" dist="25400" dir="5400000">
              <a:srgbClr val="3A3A3A">
                <a:alpha val="18000"/>
              </a:srgbClr>
            </a:outerShdw>
          </a:effectLst>
        </p:spPr>
      </p:sp>
      <p:sp>
        <p:nvSpPr>
          <p:cNvPr id="6" name="Shape 4"/>
          <p:cNvSpPr/>
          <p:nvPr/>
        </p:nvSpPr>
        <p:spPr>
          <a:xfrm>
            <a:off x="7406640" y="2002536"/>
            <a:ext cx="502920" cy="502920"/>
          </a:xfrm>
          <a:prstGeom prst="ellipse">
            <a:avLst/>
          </a:prstGeom>
          <a:solidFill>
            <a:srgbClr val="3E5C76"/>
          </a:solidFill>
          <a:ln/>
        </p:spPr>
      </p:sp>
      <p:sp>
        <p:nvSpPr>
          <p:cNvPr id="7" name="Text 5"/>
          <p:cNvSpPr/>
          <p:nvPr/>
        </p:nvSpPr>
        <p:spPr>
          <a:xfrm>
            <a:off x="7406640" y="2002536"/>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8092440" y="1911096"/>
            <a:ext cx="3383280" cy="365760"/>
          </a:xfrm>
          <a:prstGeom prst="rect">
            <a:avLst/>
          </a:prstGeom>
          <a:noFill/>
          <a:ln/>
        </p:spPr>
        <p:txBody>
          <a:bodyPr wrap="square" rtlCol="0" anchor="ctr"/>
          <a:lstStyle/>
          <a:p>
            <a:pPr indent="0" marL="0">
              <a:buNone/>
            </a:pPr>
            <a:r>
              <a:rPr lang="en-US" sz="1500" b="1" dirty="0">
                <a:solidFill>
                  <a:srgbClr val="22262B"/>
                </a:solidFill>
                <a:latin typeface="Calibri" pitchFamily="34" charset="0"/>
                <a:ea typeface="Calibri" pitchFamily="34" charset="-122"/>
                <a:cs typeface="Calibri" pitchFamily="34" charset="-120"/>
              </a:rPr>
              <a:t>Inspect</a:t>
            </a:r>
            <a:endParaRPr lang="en-US" sz="1500" dirty="0"/>
          </a:p>
        </p:txBody>
      </p:sp>
      <p:sp>
        <p:nvSpPr>
          <p:cNvPr id="9" name="Text 7"/>
          <p:cNvSpPr/>
          <p:nvPr/>
        </p:nvSpPr>
        <p:spPr>
          <a:xfrm>
            <a:off x="8092440" y="2258568"/>
            <a:ext cx="3383280" cy="3657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Assembly &amp; mates</a:t>
            </a:r>
            <a:endParaRPr lang="en-US" sz="1200" dirty="0"/>
          </a:p>
        </p:txBody>
      </p:sp>
      <p:sp>
        <p:nvSpPr>
          <p:cNvPr id="10" name="Shape 8"/>
          <p:cNvSpPr/>
          <p:nvPr/>
        </p:nvSpPr>
        <p:spPr>
          <a:xfrm>
            <a:off x="7178040" y="2880360"/>
            <a:ext cx="4480560" cy="932688"/>
          </a:xfrm>
          <a:prstGeom prst="roundRect">
            <a:avLst>
              <a:gd name="adj" fmla="val 7843"/>
            </a:avLst>
          </a:prstGeom>
          <a:solidFill>
            <a:srgbClr val="FFFFFF"/>
          </a:solidFill>
          <a:ln w="12700">
            <a:solidFill>
              <a:srgbClr val="E4E7EB"/>
            </a:solidFill>
            <a:prstDash val="solid"/>
          </a:ln>
          <a:effectLst>
            <a:outerShdw sx="100000" sy="100000" kx="0" ky="0" algn="bl" rotWithShape="0" blurRad="76200" dist="25400" dir="5400000">
              <a:srgbClr val="3A3A3A">
                <a:alpha val="18000"/>
              </a:srgbClr>
            </a:outerShdw>
          </a:effectLst>
        </p:spPr>
      </p:sp>
      <p:sp>
        <p:nvSpPr>
          <p:cNvPr id="11" name="Shape 9"/>
          <p:cNvSpPr/>
          <p:nvPr/>
        </p:nvSpPr>
        <p:spPr>
          <a:xfrm>
            <a:off x="7406640" y="3099816"/>
            <a:ext cx="502920" cy="502920"/>
          </a:xfrm>
          <a:prstGeom prst="ellipse">
            <a:avLst/>
          </a:prstGeom>
          <a:solidFill>
            <a:srgbClr val="3E5C76"/>
          </a:solidFill>
          <a:ln/>
        </p:spPr>
      </p:sp>
      <p:sp>
        <p:nvSpPr>
          <p:cNvPr id="12" name="Text 10"/>
          <p:cNvSpPr/>
          <p:nvPr/>
        </p:nvSpPr>
        <p:spPr>
          <a:xfrm>
            <a:off x="7406640" y="3099816"/>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8092440" y="3008376"/>
            <a:ext cx="3383280" cy="365760"/>
          </a:xfrm>
          <a:prstGeom prst="rect">
            <a:avLst/>
          </a:prstGeom>
          <a:noFill/>
          <a:ln/>
        </p:spPr>
        <p:txBody>
          <a:bodyPr wrap="square" rtlCol="0" anchor="ctr"/>
          <a:lstStyle/>
          <a:p>
            <a:pPr indent="0" marL="0">
              <a:buNone/>
            </a:pPr>
            <a:r>
              <a:rPr lang="en-US" sz="1500" b="1" dirty="0">
                <a:solidFill>
                  <a:srgbClr val="22262B"/>
                </a:solidFill>
                <a:latin typeface="Calibri" pitchFamily="34" charset="0"/>
                <a:ea typeface="Calibri" pitchFamily="34" charset="-122"/>
                <a:cs typeface="Calibri" pitchFamily="34" charset="-120"/>
              </a:rPr>
              <a:t>Classify</a:t>
            </a:r>
            <a:endParaRPr lang="en-US" sz="1500" dirty="0"/>
          </a:p>
        </p:txBody>
      </p:sp>
      <p:sp>
        <p:nvSpPr>
          <p:cNvPr id="14" name="Text 12"/>
          <p:cNvSpPr/>
          <p:nvPr/>
        </p:nvSpPr>
        <p:spPr>
          <a:xfrm>
            <a:off x="8092440" y="3355848"/>
            <a:ext cx="3383280" cy="3657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DOF &amp; joint types</a:t>
            </a:r>
            <a:endParaRPr lang="en-US" sz="1200" dirty="0"/>
          </a:p>
        </p:txBody>
      </p:sp>
      <p:sp>
        <p:nvSpPr>
          <p:cNvPr id="15" name="Shape 13"/>
          <p:cNvSpPr/>
          <p:nvPr/>
        </p:nvSpPr>
        <p:spPr>
          <a:xfrm>
            <a:off x="7178040" y="3977640"/>
            <a:ext cx="4480560" cy="932688"/>
          </a:xfrm>
          <a:prstGeom prst="roundRect">
            <a:avLst>
              <a:gd name="adj" fmla="val 7843"/>
            </a:avLst>
          </a:prstGeom>
          <a:solidFill>
            <a:srgbClr val="FFFFFF"/>
          </a:solidFill>
          <a:ln w="12700">
            <a:solidFill>
              <a:srgbClr val="E4E7EB"/>
            </a:solidFill>
            <a:prstDash val="solid"/>
          </a:ln>
          <a:effectLst>
            <a:outerShdw sx="100000" sy="100000" kx="0" ky="0" algn="bl" rotWithShape="0" blurRad="76200" dist="25400" dir="5400000">
              <a:srgbClr val="3A3A3A">
                <a:alpha val="18000"/>
              </a:srgbClr>
            </a:outerShdw>
          </a:effectLst>
        </p:spPr>
      </p:sp>
      <p:sp>
        <p:nvSpPr>
          <p:cNvPr id="16" name="Shape 14"/>
          <p:cNvSpPr/>
          <p:nvPr/>
        </p:nvSpPr>
        <p:spPr>
          <a:xfrm>
            <a:off x="7406640" y="4197096"/>
            <a:ext cx="502920" cy="502920"/>
          </a:xfrm>
          <a:prstGeom prst="ellipse">
            <a:avLst/>
          </a:prstGeom>
          <a:solidFill>
            <a:srgbClr val="3E5C76"/>
          </a:solidFill>
          <a:ln/>
        </p:spPr>
      </p:sp>
      <p:sp>
        <p:nvSpPr>
          <p:cNvPr id="17" name="Text 15"/>
          <p:cNvSpPr/>
          <p:nvPr/>
        </p:nvSpPr>
        <p:spPr>
          <a:xfrm>
            <a:off x="7406640" y="4197096"/>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092440" y="4105656"/>
            <a:ext cx="3383280" cy="365760"/>
          </a:xfrm>
          <a:prstGeom prst="rect">
            <a:avLst/>
          </a:prstGeom>
          <a:noFill/>
          <a:ln/>
        </p:spPr>
        <p:txBody>
          <a:bodyPr wrap="square" rtlCol="0" anchor="ctr"/>
          <a:lstStyle/>
          <a:p>
            <a:pPr indent="0" marL="0">
              <a:buNone/>
            </a:pPr>
            <a:r>
              <a:rPr lang="en-US" sz="1500" b="1" dirty="0">
                <a:solidFill>
                  <a:srgbClr val="22262B"/>
                </a:solidFill>
                <a:latin typeface="Calibri" pitchFamily="34" charset="0"/>
                <a:ea typeface="Calibri" pitchFamily="34" charset="-122"/>
                <a:cs typeface="Calibri" pitchFamily="34" charset="-120"/>
              </a:rPr>
              <a:t>Plan</a:t>
            </a:r>
            <a:endParaRPr lang="en-US" sz="1500" dirty="0"/>
          </a:p>
        </p:txBody>
      </p:sp>
      <p:sp>
        <p:nvSpPr>
          <p:cNvPr id="19" name="Text 17"/>
          <p:cNvSpPr/>
          <p:nvPr/>
        </p:nvSpPr>
        <p:spPr>
          <a:xfrm>
            <a:off x="8092440" y="4453128"/>
            <a:ext cx="3383280" cy="3657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Motion &amp; workspace</a:t>
            </a:r>
            <a:endParaRPr lang="en-US" sz="1200" dirty="0"/>
          </a:p>
        </p:txBody>
      </p:sp>
      <p:sp>
        <p:nvSpPr>
          <p:cNvPr id="20" name="Shape 18"/>
          <p:cNvSpPr/>
          <p:nvPr/>
        </p:nvSpPr>
        <p:spPr>
          <a:xfrm>
            <a:off x="7178040" y="5074920"/>
            <a:ext cx="4480560" cy="932688"/>
          </a:xfrm>
          <a:prstGeom prst="roundRect">
            <a:avLst>
              <a:gd name="adj" fmla="val 7843"/>
            </a:avLst>
          </a:prstGeom>
          <a:solidFill>
            <a:srgbClr val="FFFFFF"/>
          </a:solidFill>
          <a:ln w="12700">
            <a:solidFill>
              <a:srgbClr val="E4E7EB"/>
            </a:solidFill>
            <a:prstDash val="solid"/>
          </a:ln>
          <a:effectLst>
            <a:outerShdw sx="100000" sy="100000" kx="0" ky="0" algn="bl" rotWithShape="0" blurRad="76200" dist="25400" dir="5400000">
              <a:srgbClr val="3A3A3A">
                <a:alpha val="18000"/>
              </a:srgbClr>
            </a:outerShdw>
          </a:effectLst>
        </p:spPr>
      </p:sp>
      <p:sp>
        <p:nvSpPr>
          <p:cNvPr id="21" name="Shape 19"/>
          <p:cNvSpPr/>
          <p:nvPr/>
        </p:nvSpPr>
        <p:spPr>
          <a:xfrm>
            <a:off x="7406640" y="5294376"/>
            <a:ext cx="502920" cy="502920"/>
          </a:xfrm>
          <a:prstGeom prst="ellipse">
            <a:avLst/>
          </a:prstGeom>
          <a:solidFill>
            <a:srgbClr val="3E5C76"/>
          </a:solidFill>
          <a:ln/>
        </p:spPr>
      </p:sp>
      <p:sp>
        <p:nvSpPr>
          <p:cNvPr id="22" name="Text 20"/>
          <p:cNvSpPr/>
          <p:nvPr/>
        </p:nvSpPr>
        <p:spPr>
          <a:xfrm>
            <a:off x="7406640" y="5294376"/>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8092440" y="5202936"/>
            <a:ext cx="3383280" cy="365760"/>
          </a:xfrm>
          <a:prstGeom prst="rect">
            <a:avLst/>
          </a:prstGeom>
          <a:noFill/>
          <a:ln/>
        </p:spPr>
        <p:txBody>
          <a:bodyPr wrap="square" rtlCol="0" anchor="ctr"/>
          <a:lstStyle/>
          <a:p>
            <a:pPr indent="0" marL="0">
              <a:buNone/>
            </a:pPr>
            <a:r>
              <a:rPr lang="en-US" sz="1500" b="1" dirty="0">
                <a:solidFill>
                  <a:srgbClr val="22262B"/>
                </a:solidFill>
                <a:latin typeface="Calibri" pitchFamily="34" charset="0"/>
                <a:ea typeface="Calibri" pitchFamily="34" charset="-122"/>
                <a:cs typeface="Calibri" pitchFamily="34" charset="-120"/>
              </a:rPr>
              <a:t>Simulate</a:t>
            </a:r>
            <a:endParaRPr lang="en-US" sz="1500" dirty="0"/>
          </a:p>
        </p:txBody>
      </p:sp>
      <p:sp>
        <p:nvSpPr>
          <p:cNvPr id="24" name="Text 22"/>
          <p:cNvSpPr/>
          <p:nvPr/>
        </p:nvSpPr>
        <p:spPr>
          <a:xfrm>
            <a:off x="8092440" y="5550408"/>
            <a:ext cx="3383280" cy="3657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MATLAB / Simulink</a:t>
            </a:r>
            <a:endParaRPr lang="en-US" sz="1200" dirty="0"/>
          </a:p>
        </p:txBody>
      </p:sp>
      <p:sp>
        <p:nvSpPr>
          <p:cNvPr id="25" name="Text 2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2262B"/>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2C3440"/>
          </a:solidFill>
          <a:ln/>
        </p:spPr>
      </p:sp>
      <p:sp>
        <p:nvSpPr>
          <p:cNvPr id="3" name="Text 1"/>
          <p:cNvSpPr/>
          <p:nvPr/>
        </p:nvSpPr>
        <p:spPr>
          <a:xfrm>
            <a:off x="548640" y="50292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02 · SELECTED ROBOT</a:t>
            </a:r>
            <a:endParaRPr lang="en-US" sz="1300" dirty="0"/>
          </a:p>
        </p:txBody>
      </p:sp>
      <p:sp>
        <p:nvSpPr>
          <p:cNvPr id="4" name="Text 2"/>
          <p:cNvSpPr/>
          <p:nvPr/>
        </p:nvSpPr>
        <p:spPr>
          <a:xfrm>
            <a:off x="548640" y="914400"/>
            <a:ext cx="4023360" cy="15544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4-DOF Articulated</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Robotic Arm</a:t>
            </a:r>
            <a:endParaRPr lang="en-US" sz="3200" dirty="0"/>
          </a:p>
        </p:txBody>
      </p:sp>
      <p:sp>
        <p:nvSpPr>
          <p:cNvPr id="5" name="Text 3"/>
          <p:cNvSpPr/>
          <p:nvPr/>
        </p:nvSpPr>
        <p:spPr>
          <a:xfrm>
            <a:off x="548640" y="2331720"/>
            <a:ext cx="4023360" cy="457200"/>
          </a:xfrm>
          <a:prstGeom prst="rect">
            <a:avLst/>
          </a:prstGeom>
          <a:noFill/>
          <a:ln/>
        </p:spPr>
        <p:txBody>
          <a:bodyPr wrap="square" rtlCol="0" anchor="ctr"/>
          <a:lstStyle/>
          <a:p>
            <a:pPr indent="0" marL="0">
              <a:buNone/>
            </a:pPr>
            <a:r>
              <a:rPr lang="en-US" sz="1400" i="1" dirty="0">
                <a:solidFill>
                  <a:srgbClr val="FF6B35"/>
                </a:solidFill>
                <a:latin typeface="Calibri" pitchFamily="34" charset="0"/>
                <a:ea typeface="Calibri" pitchFamily="34" charset="-122"/>
                <a:cs typeface="Calibri" pitchFamily="34" charset="-120"/>
              </a:rPr>
              <a:t>with cutting-tool end-effector</a:t>
            </a:r>
            <a:endParaRPr lang="en-US" sz="1400" dirty="0"/>
          </a:p>
        </p:txBody>
      </p:sp>
      <p:sp>
        <p:nvSpPr>
          <p:cNvPr id="6" name="Text 4"/>
          <p:cNvSpPr/>
          <p:nvPr/>
        </p:nvSpPr>
        <p:spPr>
          <a:xfrm>
            <a:off x="548640" y="5943600"/>
            <a:ext cx="3657600" cy="365760"/>
          </a:xfrm>
          <a:prstGeom prst="rect">
            <a:avLst/>
          </a:prstGeom>
          <a:noFill/>
          <a:ln/>
        </p:spPr>
        <p:txBody>
          <a:bodyPr wrap="square" rtlCol="0" anchor="ctr"/>
          <a:lstStyle/>
          <a:p>
            <a:pPr indent="0" marL="0">
              <a:buNone/>
            </a:pPr>
            <a:r>
              <a:rPr lang="en-US" sz="1200" dirty="0">
                <a:solidFill>
                  <a:srgbClr val="A9B4C0"/>
                </a:solidFill>
                <a:latin typeface="Calibri" pitchFamily="34" charset="0"/>
                <a:ea typeface="Calibri" pitchFamily="34" charset="-122"/>
                <a:cs typeface="Calibri" pitchFamily="34" charset="-120"/>
              </a:rPr>
              <a:t>Group Number 4</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577840" y="1097280"/>
          <a:ext cx="6126480" cy="914400"/>
        </p:xfrm>
        <a:graphic>
          <a:graphicData uri="http://schemas.openxmlformats.org/drawingml/2006/table">
            <a:tbl>
              <a:tblPr/>
              <a:tblGrid>
                <a:gridCol w="2011680"/>
                <a:gridCol w="41148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ITEM</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DETAIL</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r>
              <a:tr h="566928">
                <a:tc>
                  <a:txBody>
                    <a:bodyPr/>
                    <a:lstStyle/>
                    <a:p>
                      <a:pPr indent="0" marL="0">
                        <a:buNone/>
                      </a:pPr>
                      <a:r>
                        <a:rPr lang="en-US" sz="1300" b="1" dirty="0">
                          <a:solidFill>
                            <a:srgbClr val="22262B"/>
                          </a:solidFill>
                          <a:latin typeface="Calibri" pitchFamily="34" charset="0"/>
                          <a:ea typeface="Calibri" pitchFamily="34" charset="-122"/>
                          <a:cs typeface="Calibri" pitchFamily="34" charset="-120"/>
                        </a:rPr>
                        <a:t>Selected ZIP file</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4-dof-robotic-arm-10_snapshot.zip</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22262B"/>
                          </a:solidFill>
                          <a:latin typeface="Calibri" pitchFamily="34" charset="0"/>
                          <a:ea typeface="Calibri" pitchFamily="34" charset="-122"/>
                          <a:cs typeface="Calibri" pitchFamily="34" charset="-120"/>
                        </a:rPr>
                        <a:t>Assembly folder</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4-dof-robotic-arm-10.snapshot.2</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22262B"/>
                          </a:solidFill>
                          <a:latin typeface="Calibri" pitchFamily="34" charset="0"/>
                          <a:ea typeface="Calibri" pitchFamily="34" charset="-122"/>
                          <a:cs typeface="Calibri" pitchFamily="34" charset="-120"/>
                        </a:rPr>
                        <a:t>Robot type</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4-DOF articulated arm, cutting-tool end-effector</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22262B"/>
                          </a:solidFill>
                          <a:latin typeface="Calibri" pitchFamily="34" charset="0"/>
                          <a:ea typeface="Calibri" pitchFamily="34" charset="-122"/>
                          <a:cs typeface="Calibri" pitchFamily="34" charset="-120"/>
                        </a:rPr>
                        <a:t>Group number</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8"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9"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03 · CAD ASSEMBLY INSPECTION</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indent="0" marL="0">
              <a:buNone/>
            </a:pPr>
            <a:r>
              <a:rPr lang="en-US" sz="2600" b="1" dirty="0">
                <a:solidFill>
                  <a:srgbClr val="22262B"/>
                </a:solidFill>
                <a:latin typeface="Cambria" pitchFamily="34" charset="0"/>
                <a:ea typeface="Cambria" pitchFamily="34" charset="-122"/>
                <a:cs typeface="Cambria" pitchFamily="34" charset="-120"/>
              </a:rPr>
              <a:t>Assembly Structure &amp; Key Components</a:t>
            </a:r>
            <a:endParaRPr lang="en-US" sz="2600" dirty="0"/>
          </a:p>
        </p:txBody>
      </p:sp>
      <p:pic>
        <p:nvPicPr>
          <p:cNvPr id="4" name="Image 0" descr="assembly1.png">    </p:cNvPr>
          <p:cNvPicPr>
            <a:picLocks noChangeAspect="1"/>
          </p:cNvPicPr>
          <p:nvPr/>
        </p:nvPicPr>
        <p:blipFill>
          <a:blip r:embed="rId1"/>
          <a:stretch>
            <a:fillRect/>
          </a:stretch>
        </p:blipFill>
        <p:spPr>
          <a:xfrm>
            <a:off x="548640" y="1600200"/>
            <a:ext cx="5577840" cy="3090672"/>
          </a:xfrm>
          <a:prstGeom prst="rect">
            <a:avLst/>
          </a:prstGeom>
        </p:spPr>
      </p:pic>
      <p:sp>
        <p:nvSpPr>
          <p:cNvPr id="5" name="Shape 2"/>
          <p:cNvSpPr/>
          <p:nvPr/>
        </p:nvSpPr>
        <p:spPr>
          <a:xfrm>
            <a:off x="548640" y="4800600"/>
            <a:ext cx="5577840" cy="1417320"/>
          </a:xfrm>
          <a:prstGeom prst="roundRect">
            <a:avLst>
              <a:gd name="adj" fmla="val 3871"/>
            </a:avLst>
          </a:prstGeom>
          <a:solidFill>
            <a:srgbClr val="FFFFFF"/>
          </a:solidFill>
          <a:ln w="12700">
            <a:solidFill>
              <a:srgbClr val="E4E7EB"/>
            </a:solidFill>
            <a:prstDash val="solid"/>
          </a:ln>
        </p:spPr>
      </p:sp>
      <p:sp>
        <p:nvSpPr>
          <p:cNvPr id="6" name="Text 3"/>
          <p:cNvSpPr/>
          <p:nvPr/>
        </p:nvSpPr>
        <p:spPr>
          <a:xfrm>
            <a:off x="777240" y="4910328"/>
            <a:ext cx="5120640" cy="320040"/>
          </a:xfrm>
          <a:prstGeom prst="rect">
            <a:avLst/>
          </a:prstGeom>
          <a:noFill/>
          <a:ln/>
        </p:spPr>
        <p:txBody>
          <a:bodyPr wrap="square" rtlCol="0" anchor="ctr"/>
          <a:lstStyle/>
          <a:p>
            <a:pPr indent="0" marL="0">
              <a:buNone/>
            </a:pPr>
            <a:r>
              <a:rPr lang="en-US" sz="1300" b="1" dirty="0">
                <a:solidFill>
                  <a:srgbClr val="3E5C76"/>
                </a:solidFill>
                <a:latin typeface="Calibri" pitchFamily="34" charset="0"/>
                <a:ea typeface="Calibri" pitchFamily="34" charset="-122"/>
                <a:cs typeface="Calibri" pitchFamily="34" charset="-120"/>
              </a:rPr>
              <a:t>Files in Assembly Folder</a:t>
            </a:r>
            <a:endParaRPr lang="en-US" sz="1300" dirty="0"/>
          </a:p>
        </p:txBody>
      </p:sp>
      <p:sp>
        <p:nvSpPr>
          <p:cNvPr id="7" name="Text 4"/>
          <p:cNvSpPr/>
          <p:nvPr/>
        </p:nvSpPr>
        <p:spPr>
          <a:xfrm>
            <a:off x="777240" y="5230368"/>
            <a:ext cx="5120640" cy="914400"/>
          </a:xfrm>
          <a:prstGeom prst="rect">
            <a:avLst/>
          </a:prstGeom>
          <a:noFill/>
          <a:ln/>
        </p:spPr>
        <p:txBody>
          <a:bodyPr wrap="square" rtlCol="0" anchor="ctr"/>
          <a:lstStyle/>
          <a:p>
            <a:pPr indent="0" marL="0">
              <a:buNone/>
            </a:pPr>
            <a:r>
              <a:rPr lang="en-US" sz="1150" dirty="0">
                <a:solidFill>
                  <a:srgbClr val="22262B"/>
                </a:solidFill>
                <a:latin typeface="Calibri" pitchFamily="34" charset="0"/>
                <a:ea typeface="Calibri" pitchFamily="34" charset="-122"/>
                <a:cs typeface="Calibri" pitchFamily="34" charset="-120"/>
              </a:rPr>
              <a:t>Assem1.SLDASM · Base · Revolver · Link C22 · Link C33 Conne. · Link C33 · Combiner · Tool Holder · Cutter</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0" y="1600200"/>
          <a:ext cx="5257800" cy="914400"/>
        </p:xfrm>
        <a:graphic>
          <a:graphicData uri="http://schemas.openxmlformats.org/drawingml/2006/table">
            <a:tbl>
              <a:tblPr/>
              <a:tblGrid>
                <a:gridCol w="1965960"/>
                <a:gridCol w="329184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Part</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r>
              <a:tr h="457200">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Base</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Fixed foundation; anchors robot to world frame</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Revolver (waist)</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Rotates arm horizontally about vertical axis</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457200">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Link C22 (upper arm)</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Provides main lift/reach from the shoulder</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Link C33 (forearm)</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Extends/folds forearm relative to upper arm</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457200">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Combiner (wrist)</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Combines forearm motion with tool orientation</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Cutter (end-effector)</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150" dirty="0">
                          <a:solidFill>
                            <a:srgbClr val="22262B"/>
                          </a:solidFill>
                          <a:latin typeface="Calibri" pitchFamily="34" charset="0"/>
                          <a:ea typeface="Calibri" pitchFamily="34" charset="-122"/>
                          <a:cs typeface="Calibri" pitchFamily="34" charset="-120"/>
                        </a:rPr>
                        <a:t>Performs the cutting/trimming action</a:t>
                      </a:r>
                      <a:endParaRPr lang="en-US" sz="11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bl>
          </a:graphicData>
        </a:graphic>
      </p:graphicFrame>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10"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04 · ROBOT TYPE &amp; DOF</a:t>
            </a:r>
            <a:endParaRPr lang="en-US" sz="1300" dirty="0"/>
          </a:p>
        </p:txBody>
      </p:sp>
      <p:sp>
        <p:nvSpPr>
          <p:cNvPr id="3" name="Text 1"/>
          <p:cNvSpPr/>
          <p:nvPr/>
        </p:nvSpPr>
        <p:spPr>
          <a:xfrm>
            <a:off x="548640" y="777240"/>
            <a:ext cx="10515600" cy="640080"/>
          </a:xfrm>
          <a:prstGeom prst="rect">
            <a:avLst/>
          </a:prstGeom>
          <a:noFill/>
          <a:ln/>
        </p:spPr>
        <p:txBody>
          <a:bodyPr wrap="square" rtlCol="0" anchor="ctr"/>
          <a:lstStyle/>
          <a:p>
            <a:pPr indent="0" marL="0">
              <a:buNone/>
            </a:pPr>
            <a:r>
              <a:rPr lang="en-US" sz="2500" b="1" dirty="0">
                <a:solidFill>
                  <a:srgbClr val="22262B"/>
                </a:solidFill>
                <a:latin typeface="Cambria" pitchFamily="34" charset="0"/>
                <a:ea typeface="Cambria" pitchFamily="34" charset="-122"/>
                <a:cs typeface="Cambria" pitchFamily="34" charset="-120"/>
              </a:rPr>
              <a:t>Classification: Articulated 4-Axis Serial Manipulator</a:t>
            </a:r>
            <a:endParaRPr lang="en-US" sz="2500" dirty="0"/>
          </a:p>
        </p:txBody>
      </p:sp>
      <p:sp>
        <p:nvSpPr>
          <p:cNvPr id="4" name="Shape 2"/>
          <p:cNvSpPr/>
          <p:nvPr/>
        </p:nvSpPr>
        <p:spPr>
          <a:xfrm>
            <a:off x="548640" y="1691640"/>
            <a:ext cx="3017520" cy="4297680"/>
          </a:xfrm>
          <a:prstGeom prst="roundRect">
            <a:avLst>
              <a:gd name="adj" fmla="val 2424"/>
            </a:avLst>
          </a:prstGeom>
          <a:solidFill>
            <a:srgbClr val="3E5C76"/>
          </a:solidFill>
          <a:ln/>
        </p:spPr>
      </p:sp>
      <p:sp>
        <p:nvSpPr>
          <p:cNvPr id="5" name="Text 3"/>
          <p:cNvSpPr/>
          <p:nvPr/>
        </p:nvSpPr>
        <p:spPr>
          <a:xfrm>
            <a:off x="548640" y="2103120"/>
            <a:ext cx="3017520" cy="1463040"/>
          </a:xfrm>
          <a:prstGeom prst="rect">
            <a:avLst/>
          </a:prstGeom>
          <a:noFill/>
          <a:ln/>
        </p:spPr>
        <p:txBody>
          <a:bodyPr wrap="square" rtlCol="0" anchor="ctr"/>
          <a:lstStyle/>
          <a:p>
            <a:pPr algn="ctr" indent="0" marL="0">
              <a:buNone/>
            </a:pPr>
            <a:r>
              <a:rPr lang="en-US" sz="9000" b="1" dirty="0">
                <a:solidFill>
                  <a:srgbClr val="FFFFFF"/>
                </a:solidFill>
                <a:latin typeface="Cambria" pitchFamily="34" charset="0"/>
                <a:ea typeface="Cambria" pitchFamily="34" charset="-122"/>
                <a:cs typeface="Cambria" pitchFamily="34" charset="-120"/>
              </a:rPr>
              <a:t>4</a:t>
            </a:r>
            <a:endParaRPr lang="en-US" sz="9000" dirty="0"/>
          </a:p>
        </p:txBody>
      </p:sp>
      <p:sp>
        <p:nvSpPr>
          <p:cNvPr id="6" name="Text 4"/>
          <p:cNvSpPr/>
          <p:nvPr/>
        </p:nvSpPr>
        <p:spPr>
          <a:xfrm>
            <a:off x="548640" y="3520440"/>
            <a:ext cx="3017520" cy="640080"/>
          </a:xfrm>
          <a:prstGeom prst="rect">
            <a:avLst/>
          </a:prstGeom>
          <a:noFill/>
          <a:ln/>
        </p:spPr>
        <p:txBody>
          <a:bodyPr wrap="square" rtlCol="0" anchor="ctr"/>
          <a:lstStyle/>
          <a:p>
            <a:pPr algn="ctr" indent="0" marL="0">
              <a:buNone/>
            </a:pPr>
            <a:r>
              <a:rPr lang="en-US" sz="1400" b="1" spc="100" kern="0" dirty="0">
                <a:solidFill>
                  <a:srgbClr val="CADCFC"/>
                </a:solidFill>
                <a:latin typeface="Calibri" pitchFamily="34" charset="0"/>
                <a:ea typeface="Calibri" pitchFamily="34" charset="-122"/>
                <a:cs typeface="Calibri" pitchFamily="34" charset="-120"/>
              </a:rPr>
              <a:t>DEGREES OF</a:t>
            </a:r>
            <a:endParaRPr lang="en-US" sz="1400" dirty="0"/>
          </a:p>
          <a:p>
            <a:pPr algn="ctr" indent="0" marL="0">
              <a:buNone/>
            </a:pPr>
            <a:r>
              <a:rPr lang="en-US" sz="1400" b="1" spc="100" kern="0" dirty="0">
                <a:solidFill>
                  <a:srgbClr val="CADCFC"/>
                </a:solidFill>
                <a:latin typeface="Calibri" pitchFamily="34" charset="0"/>
                <a:ea typeface="Calibri" pitchFamily="34" charset="-122"/>
                <a:cs typeface="Calibri" pitchFamily="34" charset="-120"/>
              </a:rPr>
              <a:t>FREEDOM</a:t>
            </a:r>
            <a:endParaRPr lang="en-US" sz="1400" dirty="0"/>
          </a:p>
        </p:txBody>
      </p:sp>
      <p:sp>
        <p:nvSpPr>
          <p:cNvPr id="7" name="Text 5"/>
          <p:cNvSpPr/>
          <p:nvPr/>
        </p:nvSpPr>
        <p:spPr>
          <a:xfrm>
            <a:off x="548640" y="4297680"/>
            <a:ext cx="3017520" cy="822960"/>
          </a:xfrm>
          <a:prstGeom prst="rect">
            <a:avLst/>
          </a:prstGeom>
          <a:noFill/>
          <a:ln/>
        </p:spPr>
        <p:txBody>
          <a:bodyPr wrap="square" rtlCol="0" anchor="ctr"/>
          <a:lstStyle/>
          <a:p>
            <a:pPr algn="ctr" indent="0" marL="0">
              <a:buNone/>
            </a:pPr>
            <a:r>
              <a:rPr lang="en-US" sz="1300" dirty="0">
                <a:solidFill>
                  <a:srgbClr val="E8ECF2"/>
                </a:solidFill>
                <a:latin typeface="Calibri" pitchFamily="34" charset="0"/>
                <a:ea typeface="Calibri" pitchFamily="34" charset="-122"/>
                <a:cs typeface="Calibri" pitchFamily="34" charset="-120"/>
              </a:rPr>
              <a:t>Waist · Shoulder</a:t>
            </a:r>
            <a:endParaRPr lang="en-US" sz="1300" dirty="0"/>
          </a:p>
          <a:p>
            <a:pPr algn="ctr" indent="0" marL="0">
              <a:buNone/>
            </a:pPr>
            <a:r>
              <a:rPr lang="en-US" sz="1300" dirty="0">
                <a:solidFill>
                  <a:srgbClr val="E8ECF2"/>
                </a:solidFill>
                <a:latin typeface="Calibri" pitchFamily="34" charset="0"/>
                <a:ea typeface="Calibri" pitchFamily="34" charset="-122"/>
                <a:cs typeface="Calibri" pitchFamily="34" charset="-120"/>
              </a:rPr>
              <a:t>Elbow · Wrist</a:t>
            </a:r>
            <a:endParaRPr lang="en-US" sz="1300" dirty="0"/>
          </a:p>
        </p:txBody>
      </p:sp>
      <p:sp>
        <p:nvSpPr>
          <p:cNvPr id="8" name="Text 6"/>
          <p:cNvSpPr/>
          <p:nvPr/>
        </p:nvSpPr>
        <p:spPr>
          <a:xfrm>
            <a:off x="777240" y="5349240"/>
            <a:ext cx="2560320" cy="1280160"/>
          </a:xfrm>
          <a:prstGeom prst="rect">
            <a:avLst/>
          </a:prstGeom>
          <a:noFill/>
          <a:ln/>
        </p:spPr>
        <p:txBody>
          <a:bodyPr wrap="square" rtlCol="0" anchor="ctr"/>
          <a:lstStyle/>
          <a:p>
            <a:pPr algn="ctr" indent="0" marL="0">
              <a:buNone/>
            </a:pPr>
            <a:r>
              <a:rPr lang="en-US" sz="1100" i="1" dirty="0">
                <a:solidFill>
                  <a:srgbClr val="DCE4EF"/>
                </a:solidFill>
                <a:latin typeface="Calibri" pitchFamily="34" charset="0"/>
                <a:ea typeface="Calibri" pitchFamily="34" charset="-122"/>
                <a:cs typeface="Calibri" pitchFamily="34" charset="-120"/>
              </a:rPr>
              <a:t>Revolute joints only — no prismatic (sliding) joints in the chain.</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840480" y="1691640"/>
          <a:ext cx="7818120" cy="914400"/>
        </p:xfrm>
        <a:graphic>
          <a:graphicData uri="http://schemas.openxmlformats.org/drawingml/2006/table">
            <a:tbl>
              <a:tblPr/>
              <a:tblGrid>
                <a:gridCol w="2194560"/>
                <a:gridCol w="562356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Item</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2226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22262B"/>
                    </a:solidFill>
                  </a:tcPr>
                </a:tc>
              </a:tr>
              <a:tr h="822960">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Robot type</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Articulated robotic arm (4-axis serial manipulator)</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1463040">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Main application</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Cutting, trimming, or pointing tasks via fixed cutting-tool end-effector</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0">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Classification reason</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300" dirty="0">
                          <a:solidFill>
                            <a:srgbClr val="22262B"/>
                          </a:solidFill>
                          <a:latin typeface="Calibri" pitchFamily="34" charset="0"/>
                          <a:ea typeface="Calibri" pitchFamily="34" charset="-122"/>
                          <a:cs typeface="Calibri" pitchFamily="34" charset="-120"/>
                        </a:rPr>
                        <a:t>Serial chain of four moving connections: Base→Revolver (waist), Revolver→Link C22 (shoulder), Link C22→Link C33 via connector (elbow), Link C33→Combiner→Tool Holder (wrist) — matching the articulated-arm naming rather than a Cartesian/cylindrical layout</a:t>
                      </a:r>
                      <a:endParaRPr lang="en-US" sz="13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11" name="Text 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05 · LINK &amp; JOINT IDENTIFICATION</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indent="0" marL="0">
              <a:buNone/>
            </a:pPr>
            <a:r>
              <a:rPr lang="en-US" sz="2600" b="1" dirty="0">
                <a:solidFill>
                  <a:srgbClr val="22262B"/>
                </a:solidFill>
                <a:latin typeface="Cambria" pitchFamily="34" charset="0"/>
                <a:ea typeface="Cambria" pitchFamily="34" charset="-122"/>
                <a:cs typeface="Cambria" pitchFamily="34" charset="-120"/>
              </a:rPr>
              <a:t>Four Revolute Joints in Series</a:t>
            </a:r>
            <a:endParaRPr lang="en-US" sz="2600" dirty="0"/>
          </a:p>
        </p:txBody>
      </p:sp>
      <p:sp>
        <p:nvSpPr>
          <p:cNvPr id="4" name="Text 2"/>
          <p:cNvSpPr/>
          <p:nvPr/>
        </p:nvSpPr>
        <p:spPr>
          <a:xfrm>
            <a:off x="548640" y="1371600"/>
            <a:ext cx="105156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 link is a rigid part of the robot; a joint is a connection allowing relative motion between two links.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822960"/>
                <a:gridCol w="3200400"/>
                <a:gridCol w="1463040"/>
                <a:gridCol w="3291840"/>
                <a:gridCol w="2286000"/>
              </a:tblGrid>
              <a:tr h="77724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Joint</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Connected Parts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Motion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Axis / Direction</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r>
              <a:tr h="777240">
                <a:tc>
                  <a:txBody>
                    <a:bodyPr/>
                    <a:lstStyle/>
                    <a:p>
                      <a:pPr algn="ctr" indent="0" marL="0">
                        <a:buNone/>
                      </a:pPr>
                      <a:r>
                        <a:rPr lang="en-US" sz="1250" b="1" dirty="0">
                          <a:solidFill>
                            <a:srgbClr val="22262B"/>
                          </a:solidFill>
                          <a:latin typeface="Calibri" pitchFamily="34" charset="0"/>
                          <a:ea typeface="Calibri" pitchFamily="34" charset="-122"/>
                          <a:cs typeface="Calibri" pitchFamily="34" charset="-120"/>
                        </a:rPr>
                        <a:t>J1</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Base → Revolver</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Revolute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Waist — rotates whole arm horizontally</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About vertical axis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777240">
                <a:tc>
                  <a:txBody>
                    <a:bodyPr/>
                    <a:lstStyle/>
                    <a:p>
                      <a:pPr algn="ctr" indent="0" marL="0">
                        <a:buNone/>
                      </a:pPr>
                      <a:r>
                        <a:rPr lang="en-US" sz="1250" b="1" dirty="0">
                          <a:solidFill>
                            <a:srgbClr val="22262B"/>
                          </a:solidFill>
                          <a:latin typeface="Calibri" pitchFamily="34" charset="0"/>
                          <a:ea typeface="Calibri" pitchFamily="34" charset="-122"/>
                          <a:cs typeface="Calibri" pitchFamily="34" charset="-120"/>
                        </a:rPr>
                        <a:t>J2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Revolver → Link C22</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Revolute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Shoulder — raises/lowers upper arm</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About horizontal shoulder axis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777240">
                <a:tc>
                  <a:txBody>
                    <a:bodyPr/>
                    <a:lstStyle/>
                    <a:p>
                      <a:pPr algn="ctr" indent="0" marL="0">
                        <a:buNone/>
                      </a:pPr>
                      <a:r>
                        <a:rPr lang="en-US" sz="1250" b="1" dirty="0">
                          <a:solidFill>
                            <a:srgbClr val="22262B"/>
                          </a:solidFill>
                          <a:latin typeface="Calibri" pitchFamily="34" charset="0"/>
                          <a:ea typeface="Calibri" pitchFamily="34" charset="-122"/>
                          <a:cs typeface="Calibri" pitchFamily="34" charset="-120"/>
                        </a:rPr>
                        <a:t>J3</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Link C22 → Link C33 (via connector)</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Revolute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Elbow — folds/extends forearm</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Parallel to shoulder axis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777240">
                <a:tc>
                  <a:txBody>
                    <a:bodyPr/>
                    <a:lstStyle/>
                    <a:p>
                      <a:pPr algn="ctr" indent="0" marL="0">
                        <a:buNone/>
                      </a:pPr>
                      <a:r>
                        <a:rPr lang="en-US" sz="1250" b="1" dirty="0">
                          <a:solidFill>
                            <a:srgbClr val="22262B"/>
                          </a:solidFill>
                          <a:latin typeface="Calibri" pitchFamily="34" charset="0"/>
                          <a:ea typeface="Calibri" pitchFamily="34" charset="-122"/>
                          <a:cs typeface="Calibri" pitchFamily="34" charset="-120"/>
                        </a:rPr>
                        <a:t>J4</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Link C33 → Tool Holder (via Combiner)</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Revolute</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Wrist — orients cutting tool</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l" indent="0" marL="0">
                        <a:buNone/>
                      </a:pPr>
                      <a:r>
                        <a:rPr lang="en-US" sz="1250" dirty="0">
                          <a:solidFill>
                            <a:srgbClr val="22262B"/>
                          </a:solidFill>
                          <a:latin typeface="Calibri" pitchFamily="34" charset="0"/>
                          <a:ea typeface="Calibri" pitchFamily="34" charset="-122"/>
                          <a:cs typeface="Calibri" pitchFamily="34" charset="-120"/>
                        </a:rPr>
                        <a:t>Perpendicular / along tool axis</a:t>
                      </a:r>
                      <a:endParaRPr lang="en-US" sz="125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bl>
          </a:graphicData>
        </a:graphic>
      </p:graphicFrame>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7" name="Text 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06 · MOTION REFERENCE POINTS</a:t>
            </a:r>
            <a:endParaRPr lang="en-US" sz="1300" dirty="0"/>
          </a:p>
        </p:txBody>
      </p:sp>
      <p:sp>
        <p:nvSpPr>
          <p:cNvPr id="3" name="Text 1"/>
          <p:cNvSpPr/>
          <p:nvPr/>
        </p:nvSpPr>
        <p:spPr>
          <a:xfrm>
            <a:off x="548640" y="777240"/>
            <a:ext cx="7772400" cy="640080"/>
          </a:xfrm>
          <a:prstGeom prst="rect">
            <a:avLst/>
          </a:prstGeom>
          <a:noFill/>
          <a:ln/>
        </p:spPr>
        <p:txBody>
          <a:bodyPr wrap="square" rtlCol="0" anchor="ctr"/>
          <a:lstStyle/>
          <a:p>
            <a:pPr indent="0" marL="0">
              <a:buNone/>
            </a:pPr>
            <a:r>
              <a:rPr lang="en-US" sz="2600" b="1" dirty="0">
                <a:solidFill>
                  <a:srgbClr val="22262B"/>
                </a:solidFill>
                <a:latin typeface="Cambria" pitchFamily="34" charset="0"/>
                <a:ea typeface="Cambria" pitchFamily="34" charset="-122"/>
                <a:cs typeface="Cambria" pitchFamily="34" charset="-120"/>
              </a:rPr>
              <a:t>From Home Position to Cutting Position</a:t>
            </a:r>
            <a:endParaRPr lang="en-US" sz="2600" dirty="0"/>
          </a:p>
        </p:txBody>
      </p:sp>
      <p:pic>
        <p:nvPicPr>
          <p:cNvPr id="4" name="Image 0" descr="ref1.png">    </p:cNvPr>
          <p:cNvPicPr>
            <a:picLocks noChangeAspect="1"/>
          </p:cNvPicPr>
          <p:nvPr/>
        </p:nvPicPr>
        <p:blipFill>
          <a:blip r:embed="rId1"/>
          <a:stretch>
            <a:fillRect/>
          </a:stretch>
        </p:blipFill>
        <p:spPr>
          <a:xfrm>
            <a:off x="6172200" y="1554480"/>
            <a:ext cx="5486400" cy="3086100"/>
          </a:xfrm>
          <a:prstGeom prst="rect">
            <a:avLst/>
          </a:prstGeom>
        </p:spPr>
      </p:pic>
      <p:sp>
        <p:nvSpPr>
          <p:cNvPr id="5" name="Text 2"/>
          <p:cNvSpPr/>
          <p:nvPr/>
        </p:nvSpPr>
        <p:spPr>
          <a:xfrm>
            <a:off x="548640" y="1508760"/>
            <a:ext cx="5394960" cy="1371600"/>
          </a:xfrm>
          <a:prstGeom prst="rect">
            <a:avLst/>
          </a:prstGeom>
          <a:noFill/>
          <a:ln/>
        </p:spPr>
        <p:txBody>
          <a:bodyPr wrap="square" rtlCol="0" anchor="ctr"/>
          <a:lstStyle/>
          <a:p>
            <a:pPr indent="0" marL="0">
              <a:buNone/>
            </a:pPr>
            <a:r>
              <a:rPr lang="en-US" sz="1300" dirty="0">
                <a:solidFill>
                  <a:srgbClr val="22262B"/>
                </a:solidFill>
                <a:latin typeface="Calibri" pitchFamily="34" charset="0"/>
                <a:ea typeface="Calibri" pitchFamily="34" charset="-122"/>
                <a:cs typeface="Calibri" pitchFamily="34" charset="-120"/>
              </a:rPr>
              <a:t>The robot begins at home with all four joints at zero. The waist (J1) rotates toward the target, the shoulder and elbow (J2, J3) extend to bring the Cutter above the target material, and the wrist (J4) orients the tool to the correct cutting angle before the cutting action.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5394960" cy="914400"/>
        </p:xfrm>
        <a:graphic>
          <a:graphicData uri="http://schemas.openxmlformats.org/drawingml/2006/table">
            <a:tbl>
              <a:tblPr/>
              <a:tblGrid>
                <a:gridCol w="1920240"/>
                <a:gridCol w="34747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Point</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2226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Robot Condition</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22262B"/>
                    </a:solidFill>
                  </a:tcPr>
                </a:tc>
              </a:tr>
              <a:tr h="457200">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Home position</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All joints at 0°, arm at rest</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Target position</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Cutter positioned above target</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457200">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Cutting position</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Wrist lowered/oriented, cutter engaged</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Final position</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indent="0" marL="0">
                        <a:buNone/>
                      </a:pPr>
                      <a:r>
                        <a:rPr lang="en-US" sz="1200" dirty="0">
                          <a:solidFill>
                            <a:srgbClr val="22262B"/>
                          </a:solidFill>
                          <a:latin typeface="Calibri" pitchFamily="34" charset="0"/>
                          <a:ea typeface="Calibri" pitchFamily="34" charset="-122"/>
                          <a:cs typeface="Calibri" pitchFamily="34" charset="-120"/>
                        </a:rPr>
                        <a:t>Arm withdraws, returns toward home</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bl>
          </a:graphicData>
        </a:graphic>
      </p:graphicFrame>
      <p:sp>
        <p:nvSpPr>
          <p:cNvPr id="7" name="Text 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8" name="Text 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07 · MOTION SEQUENCE</a:t>
            </a:r>
            <a:endParaRPr lang="en-US" sz="1300" dirty="0"/>
          </a:p>
        </p:txBody>
      </p:sp>
      <p:sp>
        <p:nvSpPr>
          <p:cNvPr id="3" name="Text 1"/>
          <p:cNvSpPr/>
          <p:nvPr/>
        </p:nvSpPr>
        <p:spPr>
          <a:xfrm>
            <a:off x="548640" y="777240"/>
            <a:ext cx="7772400" cy="640080"/>
          </a:xfrm>
          <a:prstGeom prst="rect">
            <a:avLst/>
          </a:prstGeom>
          <a:noFill/>
          <a:ln/>
        </p:spPr>
        <p:txBody>
          <a:bodyPr wrap="square" rtlCol="0" anchor="ctr"/>
          <a:lstStyle/>
          <a:p>
            <a:pPr indent="0" marL="0">
              <a:buNone/>
            </a:pPr>
            <a:r>
              <a:rPr lang="en-US" sz="2800" b="1" dirty="0">
                <a:solidFill>
                  <a:srgbClr val="22262B"/>
                </a:solidFill>
                <a:latin typeface="Cambria" pitchFamily="34" charset="0"/>
                <a:ea typeface="Cambria" pitchFamily="34" charset="-122"/>
                <a:cs typeface="Cambria" pitchFamily="34" charset="-120"/>
              </a:rPr>
              <a:t>Six-Step Motion Cycle</a:t>
            </a:r>
            <a:endParaRPr lang="en-US" sz="2800" dirty="0"/>
          </a:p>
        </p:txBody>
      </p:sp>
      <p:sp>
        <p:nvSpPr>
          <p:cNvPr id="4" name="Shape 2"/>
          <p:cNvSpPr/>
          <p:nvPr/>
        </p:nvSpPr>
        <p:spPr>
          <a:xfrm>
            <a:off x="548640" y="1691640"/>
            <a:ext cx="3538728" cy="2148840"/>
          </a:xfrm>
          <a:prstGeom prst="roundRect">
            <a:avLst>
              <a:gd name="adj" fmla="val 2979"/>
            </a:avLst>
          </a:prstGeom>
          <a:solidFill>
            <a:srgbClr val="FFFFFF"/>
          </a:solidFill>
          <a:ln w="12700">
            <a:solidFill>
              <a:srgbClr val="E4E7EB"/>
            </a:solidFill>
            <a:prstDash val="solid"/>
          </a:ln>
          <a:effectLst>
            <a:outerShdw sx="100000" sy="100000" kx="0" ky="0" algn="bl" rotWithShape="0" blurRad="63500" dist="25400" dir="5400000">
              <a:srgbClr val="3A3A3A">
                <a:alpha val="15000"/>
              </a:srgbClr>
            </a:outerShdw>
          </a:effectLst>
        </p:spPr>
      </p:sp>
      <p:sp>
        <p:nvSpPr>
          <p:cNvPr id="5" name="Shape 3"/>
          <p:cNvSpPr/>
          <p:nvPr/>
        </p:nvSpPr>
        <p:spPr>
          <a:xfrm>
            <a:off x="777240" y="1920240"/>
            <a:ext cx="502920" cy="502920"/>
          </a:xfrm>
          <a:prstGeom prst="ellipse">
            <a:avLst/>
          </a:prstGeom>
          <a:solidFill>
            <a:srgbClr val="FF6B35"/>
          </a:solidFill>
          <a:ln/>
        </p:spPr>
      </p:sp>
      <p:sp>
        <p:nvSpPr>
          <p:cNvPr id="6" name="Text 4"/>
          <p:cNvSpPr/>
          <p:nvPr/>
        </p:nvSpPr>
        <p:spPr>
          <a:xfrm>
            <a:off x="777240" y="19202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17320" y="1947672"/>
            <a:ext cx="2487168" cy="502920"/>
          </a:xfrm>
          <a:prstGeom prst="rect">
            <a:avLst/>
          </a:prstGeom>
          <a:noFill/>
          <a:ln/>
        </p:spPr>
        <p:txBody>
          <a:bodyPr wrap="square" rtlCol="0" anchor="ctr"/>
          <a:lstStyle/>
          <a:p>
            <a:pPr indent="0" marL="0">
              <a:buNone/>
            </a:pPr>
            <a:r>
              <a:rPr lang="en-US" sz="1350" b="1" dirty="0">
                <a:solidFill>
                  <a:srgbClr val="22262B"/>
                </a:solidFill>
                <a:latin typeface="Calibri" pitchFamily="34" charset="0"/>
                <a:ea typeface="Calibri" pitchFamily="34" charset="-122"/>
                <a:cs typeface="Calibri" pitchFamily="34" charset="-120"/>
              </a:rPr>
              <a:t>Start from home</a:t>
            </a:r>
            <a:endParaRPr lang="en-US" sz="1350" dirty="0"/>
          </a:p>
        </p:txBody>
      </p:sp>
      <p:sp>
        <p:nvSpPr>
          <p:cNvPr id="8" name="Text 6"/>
          <p:cNvSpPr/>
          <p:nvPr/>
        </p:nvSpPr>
        <p:spPr>
          <a:xfrm>
            <a:off x="777240" y="2587752"/>
            <a:ext cx="3081528" cy="457200"/>
          </a:xfrm>
          <a:prstGeom prst="rect">
            <a:avLst/>
          </a:prstGeom>
          <a:noFill/>
          <a:ln/>
        </p:spPr>
        <p:txBody>
          <a:bodyPr wrap="square" rtlCol="0" anchor="ctr"/>
          <a:lstStyle/>
          <a:p>
            <a:pPr indent="0" marL="0">
              <a:buNone/>
            </a:pPr>
            <a:r>
              <a:rPr lang="en-US" sz="1050" i="1" dirty="0">
                <a:solidFill>
                  <a:srgbClr val="3E5C76"/>
                </a:solidFill>
                <a:latin typeface="Calibri" pitchFamily="34" charset="0"/>
                <a:ea typeface="Calibri" pitchFamily="34" charset="-122"/>
                <a:cs typeface="Calibri" pitchFamily="34" charset="-120"/>
              </a:rPr>
              <a:t>All joints</a:t>
            </a:r>
            <a:endParaRPr lang="en-US" sz="1050" dirty="0"/>
          </a:p>
        </p:txBody>
      </p:sp>
      <p:sp>
        <p:nvSpPr>
          <p:cNvPr id="9" name="Text 7"/>
          <p:cNvSpPr/>
          <p:nvPr/>
        </p:nvSpPr>
        <p:spPr>
          <a:xfrm>
            <a:off x="777240" y="3063240"/>
            <a:ext cx="3081528" cy="68580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Robot begins from rest</a:t>
            </a:r>
            <a:endParaRPr lang="en-US" sz="1150" dirty="0"/>
          </a:p>
        </p:txBody>
      </p:sp>
      <p:sp>
        <p:nvSpPr>
          <p:cNvPr id="10" name="Shape 8"/>
          <p:cNvSpPr/>
          <p:nvPr/>
        </p:nvSpPr>
        <p:spPr>
          <a:xfrm>
            <a:off x="4224528" y="1691640"/>
            <a:ext cx="3538728" cy="2148840"/>
          </a:xfrm>
          <a:prstGeom prst="roundRect">
            <a:avLst>
              <a:gd name="adj" fmla="val 2979"/>
            </a:avLst>
          </a:prstGeom>
          <a:solidFill>
            <a:srgbClr val="FFFFFF"/>
          </a:solidFill>
          <a:ln w="12700">
            <a:solidFill>
              <a:srgbClr val="E4E7EB"/>
            </a:solidFill>
            <a:prstDash val="solid"/>
          </a:ln>
          <a:effectLst>
            <a:outerShdw sx="100000" sy="100000" kx="0" ky="0" algn="bl" rotWithShape="0" blurRad="63500" dist="25400" dir="5400000">
              <a:srgbClr val="3A3A3A">
                <a:alpha val="15000"/>
              </a:srgbClr>
            </a:outerShdw>
          </a:effectLst>
        </p:spPr>
      </p:sp>
      <p:sp>
        <p:nvSpPr>
          <p:cNvPr id="11" name="Shape 9"/>
          <p:cNvSpPr/>
          <p:nvPr/>
        </p:nvSpPr>
        <p:spPr>
          <a:xfrm>
            <a:off x="4453128" y="1920240"/>
            <a:ext cx="502920" cy="502920"/>
          </a:xfrm>
          <a:prstGeom prst="ellipse">
            <a:avLst/>
          </a:prstGeom>
          <a:solidFill>
            <a:srgbClr val="FF6B35"/>
          </a:solidFill>
          <a:ln/>
        </p:spPr>
      </p:sp>
      <p:sp>
        <p:nvSpPr>
          <p:cNvPr id="12" name="Text 10"/>
          <p:cNvSpPr/>
          <p:nvPr/>
        </p:nvSpPr>
        <p:spPr>
          <a:xfrm>
            <a:off x="4453128" y="19202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5093208" y="1947672"/>
            <a:ext cx="2487168" cy="502920"/>
          </a:xfrm>
          <a:prstGeom prst="rect">
            <a:avLst/>
          </a:prstGeom>
          <a:noFill/>
          <a:ln/>
        </p:spPr>
        <p:txBody>
          <a:bodyPr wrap="square" rtlCol="0" anchor="ctr"/>
          <a:lstStyle/>
          <a:p>
            <a:pPr indent="0" marL="0">
              <a:buNone/>
            </a:pPr>
            <a:r>
              <a:rPr lang="en-US" sz="1350" b="1" dirty="0">
                <a:solidFill>
                  <a:srgbClr val="22262B"/>
                </a:solidFill>
                <a:latin typeface="Calibri" pitchFamily="34" charset="0"/>
                <a:ea typeface="Calibri" pitchFamily="34" charset="-122"/>
                <a:cs typeface="Calibri" pitchFamily="34" charset="-120"/>
              </a:rPr>
              <a:t>Rotate waist toward target</a:t>
            </a:r>
            <a:endParaRPr lang="en-US" sz="1350" dirty="0"/>
          </a:p>
        </p:txBody>
      </p:sp>
      <p:sp>
        <p:nvSpPr>
          <p:cNvPr id="14" name="Text 12"/>
          <p:cNvSpPr/>
          <p:nvPr/>
        </p:nvSpPr>
        <p:spPr>
          <a:xfrm>
            <a:off x="4453128" y="2587752"/>
            <a:ext cx="3081528" cy="457200"/>
          </a:xfrm>
          <a:prstGeom prst="rect">
            <a:avLst/>
          </a:prstGeom>
          <a:noFill/>
          <a:ln/>
        </p:spPr>
        <p:txBody>
          <a:bodyPr wrap="square" rtlCol="0" anchor="ctr"/>
          <a:lstStyle/>
          <a:p>
            <a:pPr indent="0" marL="0">
              <a:buNone/>
            </a:pPr>
            <a:r>
              <a:rPr lang="en-US" sz="1050" i="1" dirty="0">
                <a:solidFill>
                  <a:srgbClr val="3E5C76"/>
                </a:solidFill>
                <a:latin typeface="Calibri" pitchFamily="34" charset="0"/>
                <a:ea typeface="Calibri" pitchFamily="34" charset="-122"/>
                <a:cs typeface="Calibri" pitchFamily="34" charset="-120"/>
              </a:rPr>
              <a:t>Joint 1 / Revolver</a:t>
            </a:r>
            <a:endParaRPr lang="en-US" sz="1050" dirty="0"/>
          </a:p>
        </p:txBody>
      </p:sp>
      <p:sp>
        <p:nvSpPr>
          <p:cNvPr id="15" name="Text 13"/>
          <p:cNvSpPr/>
          <p:nvPr/>
        </p:nvSpPr>
        <p:spPr>
          <a:xfrm>
            <a:off x="4453128" y="3063240"/>
            <a:ext cx="3081528" cy="68580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Robot turns toward the material</a:t>
            </a:r>
            <a:endParaRPr lang="en-US" sz="1150" dirty="0"/>
          </a:p>
        </p:txBody>
      </p:sp>
      <p:sp>
        <p:nvSpPr>
          <p:cNvPr id="16" name="Shape 14"/>
          <p:cNvSpPr/>
          <p:nvPr/>
        </p:nvSpPr>
        <p:spPr>
          <a:xfrm>
            <a:off x="7900416" y="1691640"/>
            <a:ext cx="3538728" cy="2148840"/>
          </a:xfrm>
          <a:prstGeom prst="roundRect">
            <a:avLst>
              <a:gd name="adj" fmla="val 2979"/>
            </a:avLst>
          </a:prstGeom>
          <a:solidFill>
            <a:srgbClr val="FFFFFF"/>
          </a:solidFill>
          <a:ln w="12700">
            <a:solidFill>
              <a:srgbClr val="E4E7EB"/>
            </a:solidFill>
            <a:prstDash val="solid"/>
          </a:ln>
          <a:effectLst>
            <a:outerShdw sx="100000" sy="100000" kx="0" ky="0" algn="bl" rotWithShape="0" blurRad="63500" dist="25400" dir="5400000">
              <a:srgbClr val="3A3A3A">
                <a:alpha val="15000"/>
              </a:srgbClr>
            </a:outerShdw>
          </a:effectLst>
        </p:spPr>
      </p:sp>
      <p:sp>
        <p:nvSpPr>
          <p:cNvPr id="17" name="Shape 15"/>
          <p:cNvSpPr/>
          <p:nvPr/>
        </p:nvSpPr>
        <p:spPr>
          <a:xfrm>
            <a:off x="8129016" y="1920240"/>
            <a:ext cx="502920" cy="502920"/>
          </a:xfrm>
          <a:prstGeom prst="ellipse">
            <a:avLst/>
          </a:prstGeom>
          <a:solidFill>
            <a:srgbClr val="FF6B35"/>
          </a:solidFill>
          <a:ln/>
        </p:spPr>
      </p:sp>
      <p:sp>
        <p:nvSpPr>
          <p:cNvPr id="18" name="Text 16"/>
          <p:cNvSpPr/>
          <p:nvPr/>
        </p:nvSpPr>
        <p:spPr>
          <a:xfrm>
            <a:off x="8129016" y="192024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8769096" y="1947672"/>
            <a:ext cx="2487168" cy="502920"/>
          </a:xfrm>
          <a:prstGeom prst="rect">
            <a:avLst/>
          </a:prstGeom>
          <a:noFill/>
          <a:ln/>
        </p:spPr>
        <p:txBody>
          <a:bodyPr wrap="square" rtlCol="0" anchor="ctr"/>
          <a:lstStyle/>
          <a:p>
            <a:pPr indent="0" marL="0">
              <a:buNone/>
            </a:pPr>
            <a:r>
              <a:rPr lang="en-US" sz="1350" b="1" dirty="0">
                <a:solidFill>
                  <a:srgbClr val="22262B"/>
                </a:solidFill>
                <a:latin typeface="Calibri" pitchFamily="34" charset="0"/>
                <a:ea typeface="Calibri" pitchFamily="34" charset="-122"/>
                <a:cs typeface="Calibri" pitchFamily="34" charset="-120"/>
              </a:rPr>
              <a:t>Extend shoulder &amp; elbow</a:t>
            </a:r>
            <a:endParaRPr lang="en-US" sz="1350" dirty="0"/>
          </a:p>
        </p:txBody>
      </p:sp>
      <p:sp>
        <p:nvSpPr>
          <p:cNvPr id="20" name="Text 18"/>
          <p:cNvSpPr/>
          <p:nvPr/>
        </p:nvSpPr>
        <p:spPr>
          <a:xfrm>
            <a:off x="8129016" y="2587752"/>
            <a:ext cx="3081528" cy="457200"/>
          </a:xfrm>
          <a:prstGeom prst="rect">
            <a:avLst/>
          </a:prstGeom>
          <a:noFill/>
          <a:ln/>
        </p:spPr>
        <p:txBody>
          <a:bodyPr wrap="square" rtlCol="0" anchor="ctr"/>
          <a:lstStyle/>
          <a:p>
            <a:pPr indent="0" marL="0">
              <a:buNone/>
            </a:pPr>
            <a:r>
              <a:rPr lang="en-US" sz="1050" i="1" dirty="0">
                <a:solidFill>
                  <a:srgbClr val="3E5C76"/>
                </a:solidFill>
                <a:latin typeface="Calibri" pitchFamily="34" charset="0"/>
                <a:ea typeface="Calibri" pitchFamily="34" charset="-122"/>
                <a:cs typeface="Calibri" pitchFamily="34" charset="-120"/>
              </a:rPr>
              <a:t>Joint 2 / Joint 3</a:t>
            </a:r>
            <a:endParaRPr lang="en-US" sz="1050" dirty="0"/>
          </a:p>
        </p:txBody>
      </p:sp>
      <p:sp>
        <p:nvSpPr>
          <p:cNvPr id="21" name="Text 19"/>
          <p:cNvSpPr/>
          <p:nvPr/>
        </p:nvSpPr>
        <p:spPr>
          <a:xfrm>
            <a:off x="8129016" y="3063240"/>
            <a:ext cx="3081528" cy="68580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Cutter moves into working area</a:t>
            </a:r>
            <a:endParaRPr lang="en-US" sz="1150" dirty="0"/>
          </a:p>
        </p:txBody>
      </p:sp>
      <p:sp>
        <p:nvSpPr>
          <p:cNvPr id="22" name="Shape 20"/>
          <p:cNvSpPr/>
          <p:nvPr/>
        </p:nvSpPr>
        <p:spPr>
          <a:xfrm>
            <a:off x="548640" y="4023360"/>
            <a:ext cx="3538728" cy="2148840"/>
          </a:xfrm>
          <a:prstGeom prst="roundRect">
            <a:avLst>
              <a:gd name="adj" fmla="val 2979"/>
            </a:avLst>
          </a:prstGeom>
          <a:solidFill>
            <a:srgbClr val="FFFFFF"/>
          </a:solidFill>
          <a:ln w="12700">
            <a:solidFill>
              <a:srgbClr val="E4E7EB"/>
            </a:solidFill>
            <a:prstDash val="solid"/>
          </a:ln>
          <a:effectLst>
            <a:outerShdw sx="100000" sy="100000" kx="0" ky="0" algn="bl" rotWithShape="0" blurRad="63500" dist="25400" dir="5400000">
              <a:srgbClr val="3A3A3A">
                <a:alpha val="15000"/>
              </a:srgbClr>
            </a:outerShdw>
          </a:effectLst>
        </p:spPr>
      </p:sp>
      <p:sp>
        <p:nvSpPr>
          <p:cNvPr id="23" name="Shape 21"/>
          <p:cNvSpPr/>
          <p:nvPr/>
        </p:nvSpPr>
        <p:spPr>
          <a:xfrm>
            <a:off x="777240" y="4251960"/>
            <a:ext cx="502920" cy="502920"/>
          </a:xfrm>
          <a:prstGeom prst="ellipse">
            <a:avLst/>
          </a:prstGeom>
          <a:solidFill>
            <a:srgbClr val="FF6B35"/>
          </a:solidFill>
          <a:ln/>
        </p:spPr>
      </p:sp>
      <p:sp>
        <p:nvSpPr>
          <p:cNvPr id="24" name="Text 22"/>
          <p:cNvSpPr/>
          <p:nvPr/>
        </p:nvSpPr>
        <p:spPr>
          <a:xfrm>
            <a:off x="777240" y="42519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1417320" y="4279392"/>
            <a:ext cx="2487168" cy="502920"/>
          </a:xfrm>
          <a:prstGeom prst="rect">
            <a:avLst/>
          </a:prstGeom>
          <a:noFill/>
          <a:ln/>
        </p:spPr>
        <p:txBody>
          <a:bodyPr wrap="square" rtlCol="0" anchor="ctr"/>
          <a:lstStyle/>
          <a:p>
            <a:pPr indent="0" marL="0">
              <a:buNone/>
            </a:pPr>
            <a:r>
              <a:rPr lang="en-US" sz="1350" b="1" dirty="0">
                <a:solidFill>
                  <a:srgbClr val="22262B"/>
                </a:solidFill>
                <a:latin typeface="Calibri" pitchFamily="34" charset="0"/>
                <a:ea typeface="Calibri" pitchFamily="34" charset="-122"/>
                <a:cs typeface="Calibri" pitchFamily="34" charset="-120"/>
              </a:rPr>
              <a:t>Orient wrist</a:t>
            </a:r>
            <a:endParaRPr lang="en-US" sz="1350" dirty="0"/>
          </a:p>
        </p:txBody>
      </p:sp>
      <p:sp>
        <p:nvSpPr>
          <p:cNvPr id="26" name="Text 24"/>
          <p:cNvSpPr/>
          <p:nvPr/>
        </p:nvSpPr>
        <p:spPr>
          <a:xfrm>
            <a:off x="777240" y="4919472"/>
            <a:ext cx="3081528" cy="457200"/>
          </a:xfrm>
          <a:prstGeom prst="rect">
            <a:avLst/>
          </a:prstGeom>
          <a:noFill/>
          <a:ln/>
        </p:spPr>
        <p:txBody>
          <a:bodyPr wrap="square" rtlCol="0" anchor="ctr"/>
          <a:lstStyle/>
          <a:p>
            <a:pPr indent="0" marL="0">
              <a:buNone/>
            </a:pPr>
            <a:r>
              <a:rPr lang="en-US" sz="1050" i="1" dirty="0">
                <a:solidFill>
                  <a:srgbClr val="3E5C76"/>
                </a:solidFill>
                <a:latin typeface="Calibri" pitchFamily="34" charset="0"/>
                <a:ea typeface="Calibri" pitchFamily="34" charset="-122"/>
                <a:cs typeface="Calibri" pitchFamily="34" charset="-120"/>
              </a:rPr>
              <a:t>Joint 4 / Combiner-Tool Holder</a:t>
            </a:r>
            <a:endParaRPr lang="en-US" sz="1050" dirty="0"/>
          </a:p>
        </p:txBody>
      </p:sp>
      <p:sp>
        <p:nvSpPr>
          <p:cNvPr id="27" name="Text 25"/>
          <p:cNvSpPr/>
          <p:nvPr/>
        </p:nvSpPr>
        <p:spPr>
          <a:xfrm>
            <a:off x="777240" y="5394960"/>
            <a:ext cx="3081528" cy="68580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Cutter reaches material at correct angle</a:t>
            </a:r>
            <a:endParaRPr lang="en-US" sz="1150" dirty="0"/>
          </a:p>
        </p:txBody>
      </p:sp>
      <p:sp>
        <p:nvSpPr>
          <p:cNvPr id="28" name="Shape 26"/>
          <p:cNvSpPr/>
          <p:nvPr/>
        </p:nvSpPr>
        <p:spPr>
          <a:xfrm>
            <a:off x="4224528" y="4023360"/>
            <a:ext cx="3538728" cy="2148840"/>
          </a:xfrm>
          <a:prstGeom prst="roundRect">
            <a:avLst>
              <a:gd name="adj" fmla="val 2979"/>
            </a:avLst>
          </a:prstGeom>
          <a:solidFill>
            <a:srgbClr val="FFFFFF"/>
          </a:solidFill>
          <a:ln w="12700">
            <a:solidFill>
              <a:srgbClr val="E4E7EB"/>
            </a:solidFill>
            <a:prstDash val="solid"/>
          </a:ln>
          <a:effectLst>
            <a:outerShdw sx="100000" sy="100000" kx="0" ky="0" algn="bl" rotWithShape="0" blurRad="63500" dist="25400" dir="5400000">
              <a:srgbClr val="3A3A3A">
                <a:alpha val="15000"/>
              </a:srgbClr>
            </a:outerShdw>
          </a:effectLst>
        </p:spPr>
      </p:sp>
      <p:sp>
        <p:nvSpPr>
          <p:cNvPr id="29" name="Shape 27"/>
          <p:cNvSpPr/>
          <p:nvPr/>
        </p:nvSpPr>
        <p:spPr>
          <a:xfrm>
            <a:off x="4453128" y="4251960"/>
            <a:ext cx="502920" cy="502920"/>
          </a:xfrm>
          <a:prstGeom prst="ellipse">
            <a:avLst/>
          </a:prstGeom>
          <a:solidFill>
            <a:srgbClr val="FF6B35"/>
          </a:solidFill>
          <a:ln/>
        </p:spPr>
      </p:sp>
      <p:sp>
        <p:nvSpPr>
          <p:cNvPr id="30" name="Text 28"/>
          <p:cNvSpPr/>
          <p:nvPr/>
        </p:nvSpPr>
        <p:spPr>
          <a:xfrm>
            <a:off x="4453128" y="42519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5093208" y="4279392"/>
            <a:ext cx="2487168" cy="502920"/>
          </a:xfrm>
          <a:prstGeom prst="rect">
            <a:avLst/>
          </a:prstGeom>
          <a:noFill/>
          <a:ln/>
        </p:spPr>
        <p:txBody>
          <a:bodyPr wrap="square" rtlCol="0" anchor="ctr"/>
          <a:lstStyle/>
          <a:p>
            <a:pPr indent="0" marL="0">
              <a:buNone/>
            </a:pPr>
            <a:r>
              <a:rPr lang="en-US" sz="1350" b="1" dirty="0">
                <a:solidFill>
                  <a:srgbClr val="22262B"/>
                </a:solidFill>
                <a:latin typeface="Calibri" pitchFamily="34" charset="0"/>
                <a:ea typeface="Calibri" pitchFamily="34" charset="-122"/>
                <a:cs typeface="Calibri" pitchFamily="34" charset="-120"/>
              </a:rPr>
              <a:t>Engage cutter</a:t>
            </a:r>
            <a:endParaRPr lang="en-US" sz="1350" dirty="0"/>
          </a:p>
        </p:txBody>
      </p:sp>
      <p:sp>
        <p:nvSpPr>
          <p:cNvPr id="32" name="Text 30"/>
          <p:cNvSpPr/>
          <p:nvPr/>
        </p:nvSpPr>
        <p:spPr>
          <a:xfrm>
            <a:off x="4453128" y="4919472"/>
            <a:ext cx="3081528" cy="457200"/>
          </a:xfrm>
          <a:prstGeom prst="rect">
            <a:avLst/>
          </a:prstGeom>
          <a:noFill/>
          <a:ln/>
        </p:spPr>
        <p:txBody>
          <a:bodyPr wrap="square" rtlCol="0" anchor="ctr"/>
          <a:lstStyle/>
          <a:p>
            <a:pPr indent="0" marL="0">
              <a:buNone/>
            </a:pPr>
            <a:r>
              <a:rPr lang="en-US" sz="1050" i="1" dirty="0">
                <a:solidFill>
                  <a:srgbClr val="3E5C76"/>
                </a:solidFill>
                <a:latin typeface="Calibri" pitchFamily="34" charset="0"/>
                <a:ea typeface="Calibri" pitchFamily="34" charset="-122"/>
                <a:cs typeface="Calibri" pitchFamily="34" charset="-120"/>
              </a:rPr>
              <a:t>End-effector</a:t>
            </a:r>
            <a:endParaRPr lang="en-US" sz="1050" dirty="0"/>
          </a:p>
        </p:txBody>
      </p:sp>
      <p:sp>
        <p:nvSpPr>
          <p:cNvPr id="33" name="Text 31"/>
          <p:cNvSpPr/>
          <p:nvPr/>
        </p:nvSpPr>
        <p:spPr>
          <a:xfrm>
            <a:off x="4453128" y="5394960"/>
            <a:ext cx="3081528" cy="68580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Cutting action performed on target</a:t>
            </a:r>
            <a:endParaRPr lang="en-US" sz="1150" dirty="0"/>
          </a:p>
        </p:txBody>
      </p:sp>
      <p:sp>
        <p:nvSpPr>
          <p:cNvPr id="34" name="Shape 32"/>
          <p:cNvSpPr/>
          <p:nvPr/>
        </p:nvSpPr>
        <p:spPr>
          <a:xfrm>
            <a:off x="7900416" y="4023360"/>
            <a:ext cx="3538728" cy="2148840"/>
          </a:xfrm>
          <a:prstGeom prst="roundRect">
            <a:avLst>
              <a:gd name="adj" fmla="val 2979"/>
            </a:avLst>
          </a:prstGeom>
          <a:solidFill>
            <a:srgbClr val="FFFFFF"/>
          </a:solidFill>
          <a:ln w="12700">
            <a:solidFill>
              <a:srgbClr val="E4E7EB"/>
            </a:solidFill>
            <a:prstDash val="solid"/>
          </a:ln>
          <a:effectLst>
            <a:outerShdw sx="100000" sy="100000" kx="0" ky="0" algn="bl" rotWithShape="0" blurRad="63500" dist="25400" dir="5400000">
              <a:srgbClr val="3A3A3A">
                <a:alpha val="15000"/>
              </a:srgbClr>
            </a:outerShdw>
          </a:effectLst>
        </p:spPr>
      </p:sp>
      <p:sp>
        <p:nvSpPr>
          <p:cNvPr id="35" name="Shape 33"/>
          <p:cNvSpPr/>
          <p:nvPr/>
        </p:nvSpPr>
        <p:spPr>
          <a:xfrm>
            <a:off x="8129016" y="4251960"/>
            <a:ext cx="502920" cy="502920"/>
          </a:xfrm>
          <a:prstGeom prst="ellipse">
            <a:avLst/>
          </a:prstGeom>
          <a:solidFill>
            <a:srgbClr val="FF6B35"/>
          </a:solidFill>
          <a:ln/>
        </p:spPr>
      </p:sp>
      <p:sp>
        <p:nvSpPr>
          <p:cNvPr id="36" name="Text 34"/>
          <p:cNvSpPr/>
          <p:nvPr/>
        </p:nvSpPr>
        <p:spPr>
          <a:xfrm>
            <a:off x="8129016" y="425196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7" name="Text 35"/>
          <p:cNvSpPr/>
          <p:nvPr/>
        </p:nvSpPr>
        <p:spPr>
          <a:xfrm>
            <a:off x="8769096" y="4279392"/>
            <a:ext cx="2487168" cy="502920"/>
          </a:xfrm>
          <a:prstGeom prst="rect">
            <a:avLst/>
          </a:prstGeom>
          <a:noFill/>
          <a:ln/>
        </p:spPr>
        <p:txBody>
          <a:bodyPr wrap="square" rtlCol="0" anchor="ctr"/>
          <a:lstStyle/>
          <a:p>
            <a:pPr indent="0" marL="0">
              <a:buNone/>
            </a:pPr>
            <a:r>
              <a:rPr lang="en-US" sz="1350" b="1" dirty="0">
                <a:solidFill>
                  <a:srgbClr val="22262B"/>
                </a:solidFill>
                <a:latin typeface="Calibri" pitchFamily="34" charset="0"/>
                <a:ea typeface="Calibri" pitchFamily="34" charset="-122"/>
                <a:cs typeface="Calibri" pitchFamily="34" charset="-120"/>
              </a:rPr>
              <a:t>Withdraw and return</a:t>
            </a:r>
            <a:endParaRPr lang="en-US" sz="1350" dirty="0"/>
          </a:p>
        </p:txBody>
      </p:sp>
      <p:sp>
        <p:nvSpPr>
          <p:cNvPr id="38" name="Text 36"/>
          <p:cNvSpPr/>
          <p:nvPr/>
        </p:nvSpPr>
        <p:spPr>
          <a:xfrm>
            <a:off x="8129016" y="4919472"/>
            <a:ext cx="3081528" cy="457200"/>
          </a:xfrm>
          <a:prstGeom prst="rect">
            <a:avLst/>
          </a:prstGeom>
          <a:noFill/>
          <a:ln/>
        </p:spPr>
        <p:txBody>
          <a:bodyPr wrap="square" rtlCol="0" anchor="ctr"/>
          <a:lstStyle/>
          <a:p>
            <a:pPr indent="0" marL="0">
              <a:buNone/>
            </a:pPr>
            <a:r>
              <a:rPr lang="en-US" sz="1050" i="1" dirty="0">
                <a:solidFill>
                  <a:srgbClr val="3E5C76"/>
                </a:solidFill>
                <a:latin typeface="Calibri" pitchFamily="34" charset="0"/>
                <a:ea typeface="Calibri" pitchFamily="34" charset="-122"/>
                <a:cs typeface="Calibri" pitchFamily="34" charset="-120"/>
              </a:rPr>
              <a:t>All joints</a:t>
            </a:r>
            <a:endParaRPr lang="en-US" sz="1050" dirty="0"/>
          </a:p>
        </p:txBody>
      </p:sp>
      <p:sp>
        <p:nvSpPr>
          <p:cNvPr id="39" name="Text 37"/>
          <p:cNvSpPr/>
          <p:nvPr/>
        </p:nvSpPr>
        <p:spPr>
          <a:xfrm>
            <a:off x="8129016" y="5394960"/>
            <a:ext cx="3081528" cy="685800"/>
          </a:xfrm>
          <a:prstGeom prst="rect">
            <a:avLst/>
          </a:prstGeom>
          <a:noFill/>
          <a:ln/>
        </p:spPr>
        <p:txBody>
          <a:bodyPr wrap="square"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Robot completes the task</a:t>
            </a:r>
            <a:endParaRPr lang="en-US" sz="1150" dirty="0"/>
          </a:p>
        </p:txBody>
      </p:sp>
      <p:sp>
        <p:nvSpPr>
          <p:cNvPr id="40" name="Text 3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41" name="Text 3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2262B"/>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08 · SIMULATION PREPARATION</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MATLAB / Simulink Multibody Setup</a:t>
            </a:r>
            <a:endParaRPr lang="en-US" sz="2700" dirty="0"/>
          </a:p>
        </p:txBody>
      </p:sp>
      <p:pic>
        <p:nvPicPr>
          <p:cNvPr id="4" name="Image 0" descr="simulink.png">    </p:cNvPr>
          <p:cNvPicPr>
            <a:picLocks noChangeAspect="1"/>
          </p:cNvPicPr>
          <p:nvPr/>
        </p:nvPicPr>
        <p:blipFill>
          <a:blip r:embed="rId1"/>
          <a:stretch>
            <a:fillRect/>
          </a:stretch>
        </p:blipFill>
        <p:spPr>
          <a:xfrm>
            <a:off x="1554480" y="1600200"/>
            <a:ext cx="9079992" cy="3575487"/>
          </a:xfrm>
          <a:prstGeom prst="rect">
            <a:avLst/>
          </a:prstGeom>
        </p:spPr>
      </p:pic>
      <p:sp>
        <p:nvSpPr>
          <p:cNvPr id="5" name="Text 2"/>
          <p:cNvSpPr/>
          <p:nvPr/>
        </p:nvSpPr>
        <p:spPr>
          <a:xfrm>
            <a:off x="1554480" y="5349240"/>
            <a:ext cx="9079992" cy="548640"/>
          </a:xfrm>
          <a:prstGeom prst="rect">
            <a:avLst/>
          </a:prstGeom>
          <a:noFill/>
          <a:ln/>
        </p:spPr>
        <p:txBody>
          <a:bodyPr wrap="square" rtlCol="0" anchor="ctr"/>
          <a:lstStyle/>
          <a:p>
            <a:pPr algn="ctr" indent="0" marL="0">
              <a:buNone/>
            </a:pPr>
            <a:r>
              <a:rPr lang="en-US" sz="1300" i="1" dirty="0">
                <a:solidFill>
                  <a:srgbClr val="A9B4C0"/>
                </a:solidFill>
                <a:latin typeface="Calibri" pitchFamily="34" charset="0"/>
                <a:ea typeface="Calibri" pitchFamily="34" charset="-122"/>
                <a:cs typeface="Calibri" pitchFamily="34" charset="-120"/>
              </a:rPr>
              <a:t>The CAD assembly was imported into Simscape Multibody, translating SolidWorks mates into simulation joint blocks for motion analysis.</a:t>
            </a:r>
            <a:endParaRPr lang="en-US" sz="1300" dirty="0"/>
          </a:p>
        </p:txBody>
      </p:sp>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7" name="Text 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09 · MOTION DEMONSTRATION</a:t>
            </a:r>
            <a:endParaRPr lang="en-US" sz="1300" dirty="0"/>
          </a:p>
        </p:txBody>
      </p:sp>
      <p:sp>
        <p:nvSpPr>
          <p:cNvPr id="3" name="Text 1"/>
          <p:cNvSpPr/>
          <p:nvPr/>
        </p:nvSpPr>
        <p:spPr>
          <a:xfrm>
            <a:off x="548640" y="777240"/>
            <a:ext cx="10058400" cy="640080"/>
          </a:xfrm>
          <a:prstGeom prst="rect">
            <a:avLst/>
          </a:prstGeom>
          <a:noFill/>
          <a:ln/>
        </p:spPr>
        <p:txBody>
          <a:bodyPr wrap="square" rtlCol="0" anchor="ctr"/>
          <a:lstStyle/>
          <a:p>
            <a:pPr indent="0" marL="0">
              <a:buNone/>
            </a:pPr>
            <a:r>
              <a:rPr lang="en-US" sz="2400" b="1" dirty="0">
                <a:solidFill>
                  <a:srgbClr val="22262B"/>
                </a:solidFill>
                <a:latin typeface="Cambria" pitchFamily="34" charset="0"/>
                <a:ea typeface="Cambria" pitchFamily="34" charset="-122"/>
                <a:cs typeface="Cambria" pitchFamily="34" charset="-120"/>
              </a:rPr>
              <a:t>Home → Cutting Position → Home in 2 Seconds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486400" cy="914400"/>
        </p:xfrm>
        <a:graphic>
          <a:graphicData uri="http://schemas.openxmlformats.org/drawingml/2006/table">
            <a:tbl>
              <a:tblPr/>
              <a:tblGrid>
                <a:gridCol w="731520"/>
                <a:gridCol w="960120"/>
                <a:gridCol w="1051560"/>
                <a:gridCol w="868680"/>
                <a:gridCol w="868680"/>
                <a:gridCol w="1005840"/>
              </a:tblGrid>
              <a:tr h="47548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J1 Waist</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J2 Shoulder</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J3 Elbow</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J4 Wrist</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End-Effector</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3E5C76"/>
                    </a:solidFill>
                  </a:tcPr>
                </a:tc>
              </a:tr>
              <a:tr h="475488">
                <a:tc>
                  <a:txBody>
                    <a:bodyPr/>
                    <a:lstStyle/>
                    <a:p>
                      <a:pPr algn="ctr" indent="0" marL="0">
                        <a:buNone/>
                      </a:pPr>
                      <a:r>
                        <a:rPr lang="en-US" sz="1200" b="1" dirty="0">
                          <a:solidFill>
                            <a:srgbClr val="22262B"/>
                          </a:solidFill>
                          <a:latin typeface="Calibri" pitchFamily="34" charset="0"/>
                          <a:ea typeface="Calibri" pitchFamily="34" charset="-122"/>
                          <a:cs typeface="Calibri" pitchFamily="34" charset="-120"/>
                        </a:rPr>
                        <a:t>0.0s</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Home / Retracted</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22262B"/>
                          </a:solidFill>
                          <a:latin typeface="Calibri" pitchFamily="34" charset="0"/>
                          <a:ea typeface="Calibri" pitchFamily="34" charset="-122"/>
                          <a:cs typeface="Calibri" pitchFamily="34" charset="-120"/>
                        </a:rPr>
                        <a:t>0.5s</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Moving to target</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475488">
                <a:tc>
                  <a:txBody>
                    <a:bodyPr/>
                    <a:lstStyle/>
                    <a:p>
                      <a:pPr algn="ctr" indent="0" marL="0">
                        <a:buNone/>
                      </a:pPr>
                      <a:r>
                        <a:rPr lang="en-US" sz="1200" b="1" dirty="0">
                          <a:solidFill>
                            <a:srgbClr val="22262B"/>
                          </a:solidFill>
                          <a:latin typeface="Calibri" pitchFamily="34" charset="0"/>
                          <a:ea typeface="Calibri" pitchFamily="34" charset="-122"/>
                          <a:cs typeface="Calibri" pitchFamily="34" charset="-120"/>
                        </a:rPr>
                        <a:t>1.0s</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DECE3"/>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DECE3"/>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DECE3"/>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DECE3"/>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DECE3"/>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Cutting — engaged</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DECE3"/>
                    </a:solidFill>
                  </a:tcPr>
                </a:tc>
              </a:tr>
              <a:tr h="475488">
                <a:tc>
                  <a:txBody>
                    <a:bodyPr/>
                    <a:lstStyle/>
                    <a:p>
                      <a:pPr algn="ctr" indent="0" marL="0">
                        <a:buNone/>
                      </a:pPr>
                      <a:r>
                        <a:rPr lang="en-US" sz="1200" b="1" dirty="0">
                          <a:solidFill>
                            <a:srgbClr val="22262B"/>
                          </a:solidFill>
                          <a:latin typeface="Calibri" pitchFamily="34" charset="0"/>
                          <a:ea typeface="Calibri" pitchFamily="34" charset="-122"/>
                          <a:cs typeface="Calibri" pitchFamily="34" charset="-120"/>
                        </a:rPr>
                        <a:t>1.5s</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Withdrawing</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EEF1F4"/>
                    </a:solidFill>
                  </a:tcPr>
                </a:tc>
              </a:tr>
              <a:tr h="475488">
                <a:tc>
                  <a:txBody>
                    <a:bodyPr/>
                    <a:lstStyle/>
                    <a:p>
                      <a:pPr algn="ctr" indent="0" marL="0">
                        <a:buNone/>
                      </a:pPr>
                      <a:r>
                        <a:rPr lang="en-US" sz="1200" b="1" dirty="0">
                          <a:solidFill>
                            <a:srgbClr val="22262B"/>
                          </a:solidFill>
                          <a:latin typeface="Calibri" pitchFamily="34" charset="0"/>
                          <a:ea typeface="Calibri" pitchFamily="34" charset="-122"/>
                          <a:cs typeface="Calibri" pitchFamily="34" charset="-120"/>
                        </a:rPr>
                        <a:t>2.0s</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62B"/>
                          </a:solidFill>
                          <a:latin typeface="Calibri" pitchFamily="34" charset="0"/>
                          <a:ea typeface="Calibri" pitchFamily="34" charset="-122"/>
                          <a:cs typeface="Calibri" pitchFamily="34" charset="-120"/>
                        </a:rPr>
                        <a:t>Home / Stop</a:t>
                      </a:r>
                      <a:endParaRPr lang="en-US" sz="1200" dirty="0">
                        <a:latin typeface="Calibri" charset="0"/>
                        <a:ea typeface="Calibri" charset="0"/>
                        <a:cs typeface="Calibri" charset="0"/>
                      </a:endParaRPr>
                    </a:p>
                  </a:txBody>
                  <a:tcPr marL="91440" marR="91440" marT="45720" marB="45720" anchor="ctr">
                    <a:lnL w="6350" cap="flat" cmpd="sng" algn="ctr">
                      <a:solidFill>
                        <a:srgbClr val="E4E7EB"/>
                      </a:solidFill>
                      <a:prstDash val="solid"/>
                      <a:round/>
                      <a:headEnd type="none" w="med" len="med"/>
                      <a:tailEnd type="none" w="med" len="med"/>
                    </a:lnL>
                    <a:lnR w="6350" cap="flat" cmpd="sng" algn="ctr">
                      <a:solidFill>
                        <a:srgbClr val="E4E7EB"/>
                      </a:solidFill>
                      <a:prstDash val="solid"/>
                      <a:round/>
                      <a:headEnd type="none" w="med" len="med"/>
                      <a:tailEnd type="none" w="med" len="med"/>
                    </a:lnR>
                    <a:lnT w="6350" cap="flat" cmpd="sng" algn="ctr">
                      <a:solidFill>
                        <a:srgbClr val="E4E7EB"/>
                      </a:solidFill>
                      <a:prstDash val="solid"/>
                      <a:round/>
                      <a:headEnd type="none" w="med" len="med"/>
                      <a:tailEnd type="none" w="med" len="med"/>
                    </a:lnT>
                    <a:lnB w="6350" cap="flat" cmpd="sng" algn="ctr">
                      <a:solidFill>
                        <a:srgbClr val="E4E7EB"/>
                      </a:solidFill>
                      <a:prstDash val="solid"/>
                      <a:round/>
                      <a:headEnd type="none" w="med" len="med"/>
                      <a:tailEnd type="none" w="med" len="med"/>
                    </a:lnB>
                    <a:solidFill>
                      <a:srgbClr val="FFFFFF"/>
                    </a:solidFill>
                  </a:tcPr>
                </a:tc>
              </a:tr>
            </a:tbl>
          </a:graphicData>
        </a:graphic>
      </p:graphicFrame>
      <p:pic>
        <p:nvPicPr>
          <p:cNvPr id="5" name="Image 0" descr="plot1.png">    </p:cNvPr>
          <p:cNvPicPr>
            <a:picLocks noChangeAspect="1"/>
          </p:cNvPicPr>
          <p:nvPr/>
        </p:nvPicPr>
        <p:blipFill>
          <a:blip r:embed="rId1"/>
          <a:stretch>
            <a:fillRect/>
          </a:stretch>
        </p:blipFill>
        <p:spPr>
          <a:xfrm>
            <a:off x="6309360" y="1554480"/>
            <a:ext cx="5349240" cy="3401568"/>
          </a:xfrm>
          <a:prstGeom prst="rect">
            <a:avLst/>
          </a:prstGeom>
        </p:spPr>
      </p:pic>
      <p:sp>
        <p:nvSpPr>
          <p:cNvPr id="6" name="Text 2"/>
          <p:cNvSpPr/>
          <p:nvPr/>
        </p:nvSpPr>
        <p:spPr>
          <a:xfrm>
            <a:off x="548640" y="5120640"/>
            <a:ext cx="11064240" cy="640080"/>
          </a:xfrm>
          <a:prstGeom prst="rect">
            <a:avLst/>
          </a:prstGeom>
          <a:noFill/>
          <a:ln/>
        </p:spPr>
        <p:txBody>
          <a:bodyPr wrap="square" rtlCol="0" anchor="ctr"/>
          <a:lstStyle/>
          <a:p>
            <a:pPr indent="0" marL="0">
              <a:buNone/>
            </a:pPr>
            <a:r>
              <a:rPr lang="en-US" sz="1250" dirty="0">
                <a:solidFill>
                  <a:srgbClr val="22262B"/>
                </a:solidFill>
                <a:latin typeface="Calibri" pitchFamily="34" charset="0"/>
                <a:ea typeface="Calibri" pitchFamily="34" charset="-122"/>
                <a:cs typeface="Calibri" pitchFamily="34" charset="-120"/>
              </a:rPr>
              <a:t>During the 2-second motion, the robot moves from home toward the target, engages the Cutter at the 1.0 s mark, then withdraws back to home by 2.0 s.</a:t>
            </a:r>
            <a:endParaRPr lang="en-US" sz="1250" dirty="0"/>
          </a:p>
        </p:txBody>
      </p:sp>
      <p:sp>
        <p:nvSpPr>
          <p:cNvPr id="7" name="Text 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8" name="Text 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10 · WORKSPACE &amp; REACHABILITY</a:t>
            </a:r>
            <a:endParaRPr lang="en-US" sz="1300" dirty="0"/>
          </a:p>
        </p:txBody>
      </p:sp>
      <p:sp>
        <p:nvSpPr>
          <p:cNvPr id="3" name="Text 1"/>
          <p:cNvSpPr/>
          <p:nvPr/>
        </p:nvSpPr>
        <p:spPr>
          <a:xfrm>
            <a:off x="548640" y="777240"/>
            <a:ext cx="7772400" cy="640080"/>
          </a:xfrm>
          <a:prstGeom prst="rect">
            <a:avLst/>
          </a:prstGeom>
          <a:noFill/>
          <a:ln/>
        </p:spPr>
        <p:txBody>
          <a:bodyPr wrap="square" rtlCol="0" anchor="ctr"/>
          <a:lstStyle/>
          <a:p>
            <a:pPr indent="0" marL="0">
              <a:buNone/>
            </a:pPr>
            <a:r>
              <a:rPr lang="en-US" sz="2700" b="1" dirty="0">
                <a:solidFill>
                  <a:srgbClr val="22262B"/>
                </a:solidFill>
                <a:latin typeface="Cambria" pitchFamily="34" charset="0"/>
                <a:ea typeface="Cambria" pitchFamily="34" charset="-122"/>
                <a:cs typeface="Cambria" pitchFamily="34" charset="-120"/>
              </a:rPr>
              <a:t>Fan-Shaped Reachable Envelope</a:t>
            </a:r>
            <a:endParaRPr lang="en-US" sz="2700" dirty="0"/>
          </a:p>
        </p:txBody>
      </p:sp>
      <p:pic>
        <p:nvPicPr>
          <p:cNvPr id="4" name="Image 0" descr="reach.png">    </p:cNvPr>
          <p:cNvPicPr>
            <a:picLocks noChangeAspect="1"/>
          </p:cNvPicPr>
          <p:nvPr/>
        </p:nvPicPr>
        <p:blipFill>
          <a:blip r:embed="rId1"/>
          <a:stretch>
            <a:fillRect/>
          </a:stretch>
        </p:blipFill>
        <p:spPr>
          <a:xfrm>
            <a:off x="6309360" y="1600200"/>
            <a:ext cx="5349240" cy="3008376"/>
          </a:xfrm>
          <a:prstGeom prst="rect">
            <a:avLst/>
          </a:prstGeom>
        </p:spPr>
      </p:pic>
      <p:sp>
        <p:nvSpPr>
          <p:cNvPr id="5" name="Text 2"/>
          <p:cNvSpPr/>
          <p:nvPr/>
        </p:nvSpPr>
        <p:spPr>
          <a:xfrm>
            <a:off x="548640" y="1600200"/>
            <a:ext cx="5394960" cy="3840480"/>
          </a:xfrm>
          <a:prstGeom prst="rect">
            <a:avLst/>
          </a:prstGeom>
          <a:noFill/>
          <a:ln/>
        </p:spPr>
        <p:txBody>
          <a:bodyPr wrap="square" rtlCol="0" anchor="ctr"/>
          <a:lstStyle/>
          <a:p>
            <a:pPr marL="342900" indent="-342900">
              <a:spcAft>
                <a:spcPts val="1000"/>
              </a:spcAft>
              <a:buSzPct val="100000"/>
              <a:buChar char="•"/>
            </a:pPr>
            <a:r>
              <a:rPr lang="en-US" sz="1300" dirty="0">
                <a:solidFill>
                  <a:srgbClr val="22262B"/>
                </a:solidFill>
                <a:latin typeface="Calibri" pitchFamily="34" charset="0"/>
                <a:ea typeface="Calibri" pitchFamily="34" charset="-122"/>
                <a:cs typeface="Calibri" pitchFamily="34" charset="-120"/>
              </a:rPr>
              <a:t>By sweeping Joints 1-4 through their range in SolidWorks and cross-checking in Simulink, the reachable envelope of the Cutter forms a fan-shaped/toroidal region centred on the base.</a:t>
            </a:r>
            <a:endParaRPr lang="en-US" sz="1300" dirty="0"/>
          </a:p>
          <a:p>
            <a:pPr marL="342900" indent="-342900">
              <a:spcAft>
                <a:spcPts val="1000"/>
              </a:spcAft>
              <a:buSzPct val="100000"/>
              <a:buChar char="•"/>
            </a:pPr>
            <a:r>
              <a:rPr lang="en-US" sz="1300" dirty="0">
                <a:solidFill>
                  <a:srgbClr val="22262B"/>
                </a:solidFill>
                <a:latin typeface="Calibri" pitchFamily="34" charset="0"/>
                <a:ea typeface="Calibri" pitchFamily="34" charset="-122"/>
                <a:cs typeface="Calibri" pitchFamily="34" charset="-120"/>
              </a:rPr>
              <a:t>Bounded by the combined lengths of Link C22 and Link C33 and by joint limits.</a:t>
            </a:r>
            <a:endParaRPr lang="en-US" sz="1300" dirty="0"/>
          </a:p>
          <a:p>
            <a:pPr marL="342900" indent="-342900">
              <a:spcAft>
                <a:spcPts val="1000"/>
              </a:spcAft>
              <a:buSzPct val="100000"/>
              <a:buChar char="•"/>
            </a:pPr>
            <a:r>
              <a:rPr lang="en-US" sz="1300" dirty="0">
                <a:solidFill>
                  <a:srgbClr val="22262B"/>
                </a:solidFill>
                <a:latin typeface="Calibri" pitchFamily="34" charset="0"/>
                <a:ea typeface="Calibri" pitchFamily="34" charset="-122"/>
                <a:cs typeface="Calibri" pitchFamily="34" charset="-120"/>
              </a:rPr>
              <a:t>Positions directly above the base (minimum reach) and beyond full extension are not reachable.</a:t>
            </a:r>
            <a:endParaRPr lang="en-US" sz="1300" dirty="0"/>
          </a:p>
          <a:p>
            <a:pPr marL="342900" indent="-342900">
              <a:buSzPct val="100000"/>
              <a:buChar char="•"/>
            </a:pPr>
            <a:r>
              <a:rPr lang="en-US" sz="1300" dirty="0">
                <a:solidFill>
                  <a:srgbClr val="22262B"/>
                </a:solidFill>
                <a:latin typeface="Calibri" pitchFamily="34" charset="0"/>
                <a:ea typeface="Calibri" pitchFamily="34" charset="-122"/>
                <a:cs typeface="Calibri" pitchFamily="34" charset="-120"/>
              </a:rPr>
              <a:t>Limitations observed: reduced accuracy near full extension, wrist joint-limit restrictions, potential self-collision at extreme waist rotation.</a:t>
            </a:r>
            <a:endParaRPr lang="en-US" sz="1300" dirty="0"/>
          </a:p>
        </p:txBody>
      </p:sp>
      <p:sp>
        <p:nvSpPr>
          <p:cNvPr id="6" name="Shape 3"/>
          <p:cNvSpPr/>
          <p:nvPr/>
        </p:nvSpPr>
        <p:spPr>
          <a:xfrm>
            <a:off x="548640" y="5623560"/>
            <a:ext cx="11091672" cy="685800"/>
          </a:xfrm>
          <a:prstGeom prst="roundRect">
            <a:avLst>
              <a:gd name="adj" fmla="val 8000"/>
            </a:avLst>
          </a:prstGeom>
          <a:solidFill>
            <a:srgbClr val="22262B"/>
          </a:solidFill>
          <a:ln/>
        </p:spPr>
      </p:sp>
      <p:sp>
        <p:nvSpPr>
          <p:cNvPr id="7" name="Text 4"/>
          <p:cNvSpPr/>
          <p:nvPr/>
        </p:nvSpPr>
        <p:spPr>
          <a:xfrm>
            <a:off x="822960" y="5623560"/>
            <a:ext cx="10607040" cy="68580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Well suited to cutting/trimming tasks within mid-range reach — not suitable for targets very close to the base or beyond maximum arm extension.</a:t>
            </a:r>
            <a:endParaRPr lang="en-US" sz="1250" dirty="0"/>
          </a:p>
        </p:txBody>
      </p:sp>
      <p:sp>
        <p:nvSpPr>
          <p:cNvPr id="8"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9"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11 · APPLICATIONS &amp; LIMITATIONS</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indent="0" marL="0">
              <a:buNone/>
            </a:pPr>
            <a:r>
              <a:rPr lang="en-US" sz="2700" b="1" dirty="0">
                <a:solidFill>
                  <a:srgbClr val="22262B"/>
                </a:solidFill>
                <a:latin typeface="Cambria" pitchFamily="34" charset="0"/>
                <a:ea typeface="Cambria" pitchFamily="34" charset="-122"/>
                <a:cs typeface="Cambria" pitchFamily="34" charset="-120"/>
              </a:rPr>
              <a:t>Where It Fits — and Where It Doesn't</a:t>
            </a:r>
            <a:endParaRPr lang="en-US" sz="2700" dirty="0"/>
          </a:p>
        </p:txBody>
      </p:sp>
      <p:sp>
        <p:nvSpPr>
          <p:cNvPr id="4" name="Shape 2"/>
          <p:cNvSpPr/>
          <p:nvPr/>
        </p:nvSpPr>
        <p:spPr>
          <a:xfrm>
            <a:off x="548640" y="1645920"/>
            <a:ext cx="5394960" cy="4480560"/>
          </a:xfrm>
          <a:prstGeom prst="roundRect">
            <a:avLst>
              <a:gd name="adj" fmla="val 1633"/>
            </a:avLst>
          </a:prstGeom>
          <a:solidFill>
            <a:srgbClr val="3E5C76"/>
          </a:solidFill>
          <a:ln/>
        </p:spPr>
      </p:sp>
      <p:sp>
        <p:nvSpPr>
          <p:cNvPr id="5" name="Text 3"/>
          <p:cNvSpPr/>
          <p:nvPr/>
        </p:nvSpPr>
        <p:spPr>
          <a:xfrm>
            <a:off x="822960" y="1828800"/>
            <a:ext cx="4846320" cy="365760"/>
          </a:xfrm>
          <a:prstGeom prst="rect">
            <a:avLst/>
          </a:prstGeom>
          <a:noFill/>
          <a:ln/>
        </p:spPr>
        <p:txBody>
          <a:bodyPr wrap="square" rtlCol="0" anchor="ctr"/>
          <a:lstStyle/>
          <a:p>
            <a:pPr indent="0" marL="0">
              <a:buNone/>
            </a:pPr>
            <a:r>
              <a:rPr lang="en-US" sz="1400" b="1" spc="150" kern="0" dirty="0">
                <a:solidFill>
                  <a:srgbClr val="FF6B35"/>
                </a:solidFill>
                <a:latin typeface="Calibri" pitchFamily="34" charset="0"/>
                <a:ea typeface="Calibri" pitchFamily="34" charset="-122"/>
                <a:cs typeface="Calibri" pitchFamily="34" charset="-120"/>
              </a:rPr>
              <a:t>APPLICATIONS</a:t>
            </a:r>
            <a:endParaRPr lang="en-US" sz="1400" dirty="0"/>
          </a:p>
        </p:txBody>
      </p:sp>
      <p:sp>
        <p:nvSpPr>
          <p:cNvPr id="6" name="Text 4"/>
          <p:cNvSpPr/>
          <p:nvPr/>
        </p:nvSpPr>
        <p:spPr>
          <a:xfrm>
            <a:off x="822960" y="2286000"/>
            <a:ext cx="4846320" cy="3566160"/>
          </a:xfrm>
          <a:prstGeom prst="rect">
            <a:avLst/>
          </a:prstGeom>
          <a:noFill/>
          <a:ln/>
        </p:spPr>
        <p:txBody>
          <a:bodyPr wrap="square" rtlCol="0" anchor="ctr"/>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Automated cutting/trimming stations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Light material processing</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Precision pointing/marking tasks</a:t>
            </a:r>
            <a:endParaRPr lang="en-US" sz="1500" dirty="0"/>
          </a:p>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Educational robotics demonstrations</a:t>
            </a:r>
            <a:endParaRPr lang="en-US" sz="1500" dirty="0"/>
          </a:p>
        </p:txBody>
      </p:sp>
      <p:sp>
        <p:nvSpPr>
          <p:cNvPr id="7" name="Shape 5"/>
          <p:cNvSpPr/>
          <p:nvPr/>
        </p:nvSpPr>
        <p:spPr>
          <a:xfrm>
            <a:off x="6217920" y="1645920"/>
            <a:ext cx="5422392" cy="4480560"/>
          </a:xfrm>
          <a:prstGeom prst="roundRect">
            <a:avLst>
              <a:gd name="adj" fmla="val 1633"/>
            </a:avLst>
          </a:prstGeom>
          <a:solidFill>
            <a:srgbClr val="FFFFFF"/>
          </a:solidFill>
          <a:ln w="12700">
            <a:solidFill>
              <a:srgbClr val="E4E7EB"/>
            </a:solidFill>
            <a:prstDash val="solid"/>
          </a:ln>
        </p:spPr>
      </p:sp>
      <p:sp>
        <p:nvSpPr>
          <p:cNvPr id="8" name="Text 6"/>
          <p:cNvSpPr/>
          <p:nvPr/>
        </p:nvSpPr>
        <p:spPr>
          <a:xfrm>
            <a:off x="6492240" y="1828800"/>
            <a:ext cx="4846320" cy="365760"/>
          </a:xfrm>
          <a:prstGeom prst="rect">
            <a:avLst/>
          </a:prstGeom>
          <a:noFill/>
          <a:ln/>
        </p:spPr>
        <p:txBody>
          <a:bodyPr wrap="square" rtlCol="0" anchor="ctr"/>
          <a:lstStyle/>
          <a:p>
            <a:pPr indent="0" marL="0">
              <a:buNone/>
            </a:pPr>
            <a:r>
              <a:rPr lang="en-US" sz="1400" b="1" spc="150" kern="0" dirty="0">
                <a:solidFill>
                  <a:srgbClr val="FF6B35"/>
                </a:solidFill>
                <a:latin typeface="Calibri" pitchFamily="34" charset="0"/>
                <a:ea typeface="Calibri" pitchFamily="34" charset="-122"/>
                <a:cs typeface="Calibri" pitchFamily="34" charset="-120"/>
              </a:rPr>
              <a:t>LIMITATIONS</a:t>
            </a:r>
            <a:endParaRPr lang="en-US" sz="1400" dirty="0"/>
          </a:p>
        </p:txBody>
      </p:sp>
      <p:sp>
        <p:nvSpPr>
          <p:cNvPr id="9" name="Text 7"/>
          <p:cNvSpPr/>
          <p:nvPr/>
        </p:nvSpPr>
        <p:spPr>
          <a:xfrm>
            <a:off x="6492240" y="2240280"/>
            <a:ext cx="4846320" cy="3749040"/>
          </a:xfrm>
          <a:prstGeom prst="rect">
            <a:avLst/>
          </a:prstGeom>
          <a:noFill/>
          <a:ln/>
        </p:spPr>
        <p:txBody>
          <a:bodyPr wrap="square" rtlCol="0" anchor="ctr"/>
          <a:lstStyle/>
          <a:p>
            <a:pPr marL="342900" indent="-342900">
              <a:spcAft>
                <a:spcPts val="800"/>
              </a:spcAft>
              <a:buSzPct val="100000"/>
              <a:buChar char="•"/>
            </a:pPr>
            <a:r>
              <a:rPr lang="en-US" sz="1250" dirty="0">
                <a:solidFill>
                  <a:srgbClr val="22262B"/>
                </a:solidFill>
                <a:latin typeface="Calibri" pitchFamily="34" charset="0"/>
                <a:ea typeface="Calibri" pitchFamily="34" charset="-122"/>
                <a:cs typeface="Calibri" pitchFamily="34" charset="-120"/>
              </a:rPr>
              <a:t>Limited reach beyond combined Link C22 + Link C33 length</a:t>
            </a:r>
            <a:endParaRPr lang="en-US" sz="1250" dirty="0"/>
          </a:p>
          <a:p>
            <a:pPr marL="342900" indent="-342900">
              <a:spcAft>
                <a:spcPts val="800"/>
              </a:spcAft>
              <a:buSzPct val="100000"/>
              <a:buChar char="•"/>
            </a:pPr>
            <a:r>
              <a:rPr lang="en-US" sz="1250" dirty="0">
                <a:solidFill>
                  <a:srgbClr val="22262B"/>
                </a:solidFill>
                <a:latin typeface="Calibri" pitchFamily="34" charset="0"/>
                <a:ea typeface="Calibri" pitchFamily="34" charset="-122"/>
                <a:cs typeface="Calibri" pitchFamily="34" charset="-120"/>
              </a:rPr>
              <a:t>Payload/cutting-force capacity not specified — assumed light-duty</a:t>
            </a:r>
            <a:endParaRPr lang="en-US" sz="1250" dirty="0"/>
          </a:p>
          <a:p>
            <a:pPr marL="342900" indent="-342900">
              <a:spcAft>
                <a:spcPts val="800"/>
              </a:spcAft>
              <a:buSzPct val="100000"/>
              <a:buChar char="•"/>
            </a:pPr>
            <a:r>
              <a:rPr lang="en-US" sz="1250" dirty="0">
                <a:solidFill>
                  <a:srgbClr val="22262B"/>
                </a:solidFill>
                <a:latin typeface="Calibri" pitchFamily="34" charset="0"/>
                <a:ea typeface="Calibri" pitchFamily="34" charset="-122"/>
                <a:cs typeface="Calibri" pitchFamily="34" charset="-120"/>
              </a:rPr>
              <a:t>Only 4 DOF vs. full 3D orientation control of a 6-axis arm</a:t>
            </a:r>
            <a:endParaRPr lang="en-US" sz="1250" dirty="0"/>
          </a:p>
          <a:p>
            <a:pPr marL="342900" indent="-342900">
              <a:spcAft>
                <a:spcPts val="800"/>
              </a:spcAft>
              <a:buSzPct val="100000"/>
              <a:buChar char="•"/>
            </a:pPr>
            <a:r>
              <a:rPr lang="en-US" sz="1250" dirty="0">
                <a:solidFill>
                  <a:srgbClr val="22262B"/>
                </a:solidFill>
                <a:latin typeface="Calibri" pitchFamily="34" charset="0"/>
                <a:ea typeface="Calibri" pitchFamily="34" charset="-122"/>
                <a:cs typeface="Calibri" pitchFamily="34" charset="-120"/>
              </a:rPr>
              <a:t>Risk of self-collision/singularities near full extension</a:t>
            </a:r>
            <a:endParaRPr lang="en-US" sz="1250" dirty="0"/>
          </a:p>
          <a:p>
            <a:pPr marL="342900" indent="-342900">
              <a:spcAft>
                <a:spcPts val="800"/>
              </a:spcAft>
              <a:buSzPct val="100000"/>
              <a:buChar char="•"/>
            </a:pPr>
            <a:r>
              <a:rPr lang="en-US" sz="1250" dirty="0">
                <a:solidFill>
                  <a:srgbClr val="22262B"/>
                </a:solidFill>
                <a:latin typeface="Calibri" pitchFamily="34" charset="0"/>
                <a:ea typeface="Calibri" pitchFamily="34" charset="-122"/>
                <a:cs typeface="Calibri" pitchFamily="34" charset="-120"/>
              </a:rPr>
              <a:t>Connector &amp; wrist mates needed manual correction in Simscape import</a:t>
            </a:r>
            <a:endParaRPr lang="en-US" sz="1250" dirty="0"/>
          </a:p>
          <a:p>
            <a:pPr marL="342900" indent="-342900">
              <a:buSzPct val="100000"/>
              <a:buChar char="•"/>
            </a:pPr>
            <a:r>
              <a:rPr lang="en-US" sz="1250" dirty="0">
                <a:solidFill>
                  <a:srgbClr val="22262B"/>
                </a:solidFill>
                <a:latin typeface="Calibri" pitchFamily="34" charset="0"/>
                <a:ea typeface="Calibri" pitchFamily="34" charset="-122"/>
                <a:cs typeface="Calibri" pitchFamily="34" charset="-120"/>
              </a:rPr>
              <a:t>No actuator/motor specs — limits torque/speed analysis</a:t>
            </a:r>
            <a:endParaRPr lang="en-US" sz="1250" dirty="0"/>
          </a:p>
        </p:txBody>
      </p:sp>
      <p:sp>
        <p:nvSpPr>
          <p:cNvPr id="10" name="Text 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11" name="Text 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2262B"/>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12 · CONCLUSION</a:t>
            </a:r>
            <a:endParaRPr lang="en-US" sz="1300" dirty="0"/>
          </a:p>
        </p:txBody>
      </p:sp>
      <p:sp>
        <p:nvSpPr>
          <p:cNvPr id="3" name="Text 1"/>
          <p:cNvSpPr/>
          <p:nvPr/>
        </p:nvSpPr>
        <p:spPr>
          <a:xfrm>
            <a:off x="548640" y="822960"/>
            <a:ext cx="96012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CAD Geometry to Motion Simulation</a:t>
            </a:r>
            <a:endParaRPr lang="en-US" sz="3000" dirty="0"/>
          </a:p>
        </p:txBody>
      </p:sp>
      <p:sp>
        <p:nvSpPr>
          <p:cNvPr id="4" name="Text 2"/>
          <p:cNvSpPr/>
          <p:nvPr/>
        </p:nvSpPr>
        <p:spPr>
          <a:xfrm>
            <a:off x="548640" y="1828800"/>
            <a:ext cx="10881360" cy="1188720"/>
          </a:xfrm>
          <a:prstGeom prst="rect">
            <a:avLst/>
          </a:prstGeom>
          <a:noFill/>
          <a:ln/>
        </p:spPr>
        <p:txBody>
          <a:bodyPr wrap="square" rtlCol="0" anchor="ctr"/>
          <a:lstStyle/>
          <a:p>
            <a:pPr indent="0" marL="0">
              <a:buNone/>
            </a:pPr>
            <a:r>
              <a:rPr lang="en-US" sz="1500" dirty="0">
                <a:solidFill>
                  <a:srgbClr val="DCE4EF"/>
                </a:solidFill>
                <a:latin typeface="Calibri" pitchFamily="34" charset="0"/>
                <a:ea typeface="Calibri" pitchFamily="34" charset="-122"/>
                <a:cs typeface="Calibri" pitchFamily="34" charset="-120"/>
              </a:rPr>
              <a:t>This assignment demonstrated how a downloaded SolidWorks CAD assembly — the 4-dof-robotic-arm-10 model — can be interpreted as a functional robotics system: identifying the Base, Revolver, links, connector, Combiner, Tool Holder, and Cutter end-effector, and classifying the robot as a 4-DOF articulated arm.</a:t>
            </a:r>
            <a:endParaRPr lang="en-US" sz="1500" dirty="0"/>
          </a:p>
        </p:txBody>
      </p:sp>
      <p:sp>
        <p:nvSpPr>
          <p:cNvPr id="5" name="Text 3"/>
          <p:cNvSpPr/>
          <p:nvPr/>
        </p:nvSpPr>
        <p:spPr>
          <a:xfrm>
            <a:off x="548640" y="3063240"/>
            <a:ext cx="10881360" cy="1005840"/>
          </a:xfrm>
          <a:prstGeom prst="rect">
            <a:avLst/>
          </a:prstGeom>
          <a:noFill/>
          <a:ln/>
        </p:spPr>
        <p:txBody>
          <a:bodyPr wrap="square" rtlCol="0" anchor="ctr"/>
          <a:lstStyle/>
          <a:p>
            <a:pPr indent="0" marL="0">
              <a:buNone/>
            </a:pPr>
            <a:r>
              <a:rPr lang="en-US" sz="1500" dirty="0">
                <a:solidFill>
                  <a:srgbClr val="DCE4EF"/>
                </a:solidFill>
                <a:latin typeface="Calibri" pitchFamily="34" charset="0"/>
                <a:ea typeface="Calibri" pitchFamily="34" charset="-122"/>
                <a:cs typeface="Calibri" pitchFamily="34" charset="-120"/>
              </a:rPr>
              <a:t>The group mapped the mechanical structure to a joint table, defined practical motion reference points around a cutting task, and outlined a MATLAB/Simscape Multibody import approach to demonstrate a target-and-cut motion within the required 2-second window.</a:t>
            </a:r>
            <a:endParaRPr lang="en-US" sz="1500" dirty="0"/>
          </a:p>
        </p:txBody>
      </p:sp>
      <p:sp>
        <p:nvSpPr>
          <p:cNvPr id="6" name="Text 4"/>
          <p:cNvSpPr/>
          <p:nvPr/>
        </p:nvSpPr>
        <p:spPr>
          <a:xfrm>
            <a:off x="548640" y="4160520"/>
            <a:ext cx="10881360" cy="1188720"/>
          </a:xfrm>
          <a:prstGeom prst="rect">
            <a:avLst/>
          </a:prstGeom>
          <a:noFill/>
          <a:ln/>
        </p:spPr>
        <p:txBody>
          <a:bodyPr wrap="square" rtlCol="0" anchor="ctr"/>
          <a:lstStyle/>
          <a:p>
            <a:pPr indent="0" marL="0">
              <a:buNone/>
            </a:pPr>
            <a:r>
              <a:rPr lang="en-US" sz="1500" dirty="0">
                <a:solidFill>
                  <a:srgbClr val="DCE4EF"/>
                </a:solidFill>
                <a:latin typeface="Calibri" pitchFamily="34" charset="0"/>
                <a:ea typeface="Calibri" pitchFamily="34" charset="-122"/>
                <a:cs typeface="Calibri" pitchFamily="34" charset="-120"/>
              </a:rPr>
              <a:t>Challenges anticipated in the Simulink import process (particularly the connector and wrist combiner parts) reinforced the practical gap between an ideal CAD model and a simulation-ready robot — strengthening the group's understanding of robot classification, kinematic chains, and the CAD-to-simulation workflow.</a:t>
            </a:r>
            <a:endParaRPr lang="en-US" sz="1500" dirty="0"/>
          </a:p>
        </p:txBody>
      </p:sp>
      <p:sp>
        <p:nvSpPr>
          <p:cNvPr id="7"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8"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13 · REFERENCES</a:t>
            </a:r>
            <a:endParaRPr lang="en-US" sz="1300" dirty="0"/>
          </a:p>
        </p:txBody>
      </p:sp>
      <p:sp>
        <p:nvSpPr>
          <p:cNvPr id="3" name="Text 1"/>
          <p:cNvSpPr/>
          <p:nvPr/>
        </p:nvSpPr>
        <p:spPr>
          <a:xfrm>
            <a:off x="548640" y="777240"/>
            <a:ext cx="7315200" cy="640080"/>
          </a:xfrm>
          <a:prstGeom prst="rect">
            <a:avLst/>
          </a:prstGeom>
          <a:noFill/>
          <a:ln/>
        </p:spPr>
        <p:txBody>
          <a:bodyPr wrap="square" rtlCol="0" anchor="ctr"/>
          <a:lstStyle/>
          <a:p>
            <a:pPr indent="0" marL="0">
              <a:buNone/>
            </a:pPr>
            <a:r>
              <a:rPr lang="en-US" sz="2800" b="1" dirty="0">
                <a:solidFill>
                  <a:srgbClr val="22262B"/>
                </a:solidFill>
                <a:latin typeface="Cambria" pitchFamily="34" charset="0"/>
                <a:ea typeface="Cambria" pitchFamily="34" charset="-122"/>
                <a:cs typeface="Cambria" pitchFamily="34" charset="-120"/>
              </a:rPr>
              <a:t>References</a:t>
            </a:r>
            <a:endParaRPr lang="en-US" sz="2800" dirty="0"/>
          </a:p>
        </p:txBody>
      </p:sp>
      <p:sp>
        <p:nvSpPr>
          <p:cNvPr id="4" name="Shape 2"/>
          <p:cNvSpPr/>
          <p:nvPr/>
        </p:nvSpPr>
        <p:spPr>
          <a:xfrm>
            <a:off x="548640" y="1828800"/>
            <a:ext cx="11091672" cy="777240"/>
          </a:xfrm>
          <a:prstGeom prst="roundRect">
            <a:avLst>
              <a:gd name="adj" fmla="val 7059"/>
            </a:avLst>
          </a:prstGeom>
          <a:solidFill>
            <a:srgbClr val="FFFFFF"/>
          </a:solidFill>
          <a:ln w="12700">
            <a:solidFill>
              <a:srgbClr val="E4E7EB"/>
            </a:solidFill>
            <a:prstDash val="solid"/>
          </a:ln>
        </p:spPr>
      </p:sp>
      <p:sp>
        <p:nvSpPr>
          <p:cNvPr id="5" name="Shape 3"/>
          <p:cNvSpPr/>
          <p:nvPr/>
        </p:nvSpPr>
        <p:spPr>
          <a:xfrm>
            <a:off x="777240" y="2011680"/>
            <a:ext cx="411480" cy="411480"/>
          </a:xfrm>
          <a:prstGeom prst="ellipse">
            <a:avLst/>
          </a:prstGeom>
          <a:solidFill>
            <a:srgbClr val="3E5C76"/>
          </a:solidFill>
          <a:ln/>
        </p:spPr>
      </p:sp>
      <p:sp>
        <p:nvSpPr>
          <p:cNvPr id="6" name="Text 4"/>
          <p:cNvSpPr/>
          <p:nvPr/>
        </p:nvSpPr>
        <p:spPr>
          <a:xfrm>
            <a:off x="777240" y="20116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828800"/>
            <a:ext cx="10058400" cy="777240"/>
          </a:xfrm>
          <a:prstGeom prst="rect">
            <a:avLst/>
          </a:prstGeom>
          <a:noFill/>
          <a:ln/>
        </p:spPr>
        <p:txBody>
          <a:bodyPr wrap="square" rtlCol="0" anchor="ctr"/>
          <a:lstStyle/>
          <a:p>
            <a:pPr indent="0" marL="0">
              <a:buNone/>
            </a:pPr>
            <a:r>
              <a:rPr lang="en-US" sz="1350" dirty="0">
                <a:solidFill>
                  <a:srgbClr val="22262B"/>
                </a:solidFill>
                <a:latin typeface="Calibri" pitchFamily="34" charset="0"/>
                <a:ea typeface="Calibri" pitchFamily="34" charset="-122"/>
                <a:cs typeface="Calibri" pitchFamily="34" charset="-120"/>
              </a:rPr>
              <a:t>Course robotics lecture notes, CT 322, University of Dodoma, 2026</a:t>
            </a:r>
            <a:endParaRPr lang="en-US" sz="1350" dirty="0"/>
          </a:p>
        </p:txBody>
      </p:sp>
      <p:sp>
        <p:nvSpPr>
          <p:cNvPr id="8" name="Shape 6"/>
          <p:cNvSpPr/>
          <p:nvPr/>
        </p:nvSpPr>
        <p:spPr>
          <a:xfrm>
            <a:off x="548640" y="2788920"/>
            <a:ext cx="11091672" cy="777240"/>
          </a:xfrm>
          <a:prstGeom prst="roundRect">
            <a:avLst>
              <a:gd name="adj" fmla="val 7059"/>
            </a:avLst>
          </a:prstGeom>
          <a:solidFill>
            <a:srgbClr val="FFFFFF"/>
          </a:solidFill>
          <a:ln w="12700">
            <a:solidFill>
              <a:srgbClr val="E4E7EB"/>
            </a:solidFill>
            <a:prstDash val="solid"/>
          </a:ln>
        </p:spPr>
      </p:sp>
      <p:sp>
        <p:nvSpPr>
          <p:cNvPr id="9" name="Shape 7"/>
          <p:cNvSpPr/>
          <p:nvPr/>
        </p:nvSpPr>
        <p:spPr>
          <a:xfrm>
            <a:off x="777240" y="2971800"/>
            <a:ext cx="411480" cy="411480"/>
          </a:xfrm>
          <a:prstGeom prst="ellipse">
            <a:avLst/>
          </a:prstGeom>
          <a:solidFill>
            <a:srgbClr val="3E5C76"/>
          </a:solidFill>
          <a:ln/>
        </p:spPr>
      </p:sp>
      <p:sp>
        <p:nvSpPr>
          <p:cNvPr id="10" name="Text 8"/>
          <p:cNvSpPr/>
          <p:nvPr/>
        </p:nvSpPr>
        <p:spPr>
          <a:xfrm>
            <a:off x="777240" y="29718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371600" y="2788920"/>
            <a:ext cx="10058400" cy="777240"/>
          </a:xfrm>
          <a:prstGeom prst="rect">
            <a:avLst/>
          </a:prstGeom>
          <a:noFill/>
          <a:ln/>
        </p:spPr>
        <p:txBody>
          <a:bodyPr wrap="square" rtlCol="0" anchor="ctr"/>
          <a:lstStyle/>
          <a:p>
            <a:pPr indent="0" marL="0">
              <a:buNone/>
            </a:pPr>
            <a:r>
              <a:rPr lang="en-US" sz="1350" dirty="0">
                <a:solidFill>
                  <a:srgbClr val="22262B"/>
                </a:solidFill>
                <a:latin typeface="Calibri" pitchFamily="34" charset="0"/>
                <a:ea typeface="Calibri" pitchFamily="34" charset="-122"/>
                <a:cs typeface="Calibri" pitchFamily="34" charset="-120"/>
              </a:rPr>
              <a:t>SolidWorks Help Documentation: Assembly mates and motion study</a:t>
            </a:r>
            <a:endParaRPr lang="en-US" sz="1350" dirty="0"/>
          </a:p>
        </p:txBody>
      </p:sp>
      <p:sp>
        <p:nvSpPr>
          <p:cNvPr id="12" name="Shape 10"/>
          <p:cNvSpPr/>
          <p:nvPr/>
        </p:nvSpPr>
        <p:spPr>
          <a:xfrm>
            <a:off x="548640" y="3749040"/>
            <a:ext cx="11091672" cy="777240"/>
          </a:xfrm>
          <a:prstGeom prst="roundRect">
            <a:avLst>
              <a:gd name="adj" fmla="val 7059"/>
            </a:avLst>
          </a:prstGeom>
          <a:solidFill>
            <a:srgbClr val="FFFFFF"/>
          </a:solidFill>
          <a:ln w="12700">
            <a:solidFill>
              <a:srgbClr val="E4E7EB"/>
            </a:solidFill>
            <a:prstDash val="solid"/>
          </a:ln>
        </p:spPr>
      </p:sp>
      <p:sp>
        <p:nvSpPr>
          <p:cNvPr id="13" name="Shape 11"/>
          <p:cNvSpPr/>
          <p:nvPr/>
        </p:nvSpPr>
        <p:spPr>
          <a:xfrm>
            <a:off x="777240" y="3931920"/>
            <a:ext cx="411480" cy="411480"/>
          </a:xfrm>
          <a:prstGeom prst="ellipse">
            <a:avLst/>
          </a:prstGeom>
          <a:solidFill>
            <a:srgbClr val="3E5C76"/>
          </a:solidFill>
          <a:ln/>
        </p:spPr>
      </p:sp>
      <p:sp>
        <p:nvSpPr>
          <p:cNvPr id="14" name="Text 12"/>
          <p:cNvSpPr/>
          <p:nvPr/>
        </p:nvSpPr>
        <p:spPr>
          <a:xfrm>
            <a:off x="777240" y="39319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71600" y="3749040"/>
            <a:ext cx="10058400" cy="777240"/>
          </a:xfrm>
          <a:prstGeom prst="rect">
            <a:avLst/>
          </a:prstGeom>
          <a:noFill/>
          <a:ln/>
        </p:spPr>
        <p:txBody>
          <a:bodyPr wrap="square" rtlCol="0" anchor="ctr"/>
          <a:lstStyle/>
          <a:p>
            <a:pPr indent="0" marL="0">
              <a:buNone/>
            </a:pPr>
            <a:r>
              <a:rPr lang="en-US" sz="1350" dirty="0">
                <a:solidFill>
                  <a:srgbClr val="22262B"/>
                </a:solidFill>
                <a:latin typeface="Calibri" pitchFamily="34" charset="0"/>
                <a:ea typeface="Calibri" pitchFamily="34" charset="-122"/>
                <a:cs typeface="Calibri" pitchFamily="34" charset="-120"/>
              </a:rPr>
              <a:t>MathWorks Documentation: Simscape Multibody, importing CAD assemblies (mathworks.com)</a:t>
            </a:r>
            <a:endParaRPr lang="en-US" sz="1350" dirty="0"/>
          </a:p>
        </p:txBody>
      </p:sp>
      <p:sp>
        <p:nvSpPr>
          <p:cNvPr id="16" name="Shape 14"/>
          <p:cNvSpPr/>
          <p:nvPr/>
        </p:nvSpPr>
        <p:spPr>
          <a:xfrm>
            <a:off x="548640" y="4709160"/>
            <a:ext cx="11091672" cy="777240"/>
          </a:xfrm>
          <a:prstGeom prst="roundRect">
            <a:avLst>
              <a:gd name="adj" fmla="val 7059"/>
            </a:avLst>
          </a:prstGeom>
          <a:solidFill>
            <a:srgbClr val="FFFFFF"/>
          </a:solidFill>
          <a:ln w="12700">
            <a:solidFill>
              <a:srgbClr val="E4E7EB"/>
            </a:solidFill>
            <a:prstDash val="solid"/>
          </a:ln>
        </p:spPr>
      </p:sp>
      <p:sp>
        <p:nvSpPr>
          <p:cNvPr id="17" name="Shape 15"/>
          <p:cNvSpPr/>
          <p:nvPr/>
        </p:nvSpPr>
        <p:spPr>
          <a:xfrm>
            <a:off x="777240" y="4892040"/>
            <a:ext cx="411480" cy="411480"/>
          </a:xfrm>
          <a:prstGeom prst="ellipse">
            <a:avLst/>
          </a:prstGeom>
          <a:solidFill>
            <a:srgbClr val="3E5C76"/>
          </a:solidFill>
          <a:ln/>
        </p:spPr>
      </p:sp>
      <p:sp>
        <p:nvSpPr>
          <p:cNvPr id="18" name="Text 16"/>
          <p:cNvSpPr/>
          <p:nvPr/>
        </p:nvSpPr>
        <p:spPr>
          <a:xfrm>
            <a:off x="777240" y="48920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371600" y="4709160"/>
            <a:ext cx="10058400" cy="777240"/>
          </a:xfrm>
          <a:prstGeom prst="rect">
            <a:avLst/>
          </a:prstGeom>
          <a:noFill/>
          <a:ln/>
        </p:spPr>
        <p:txBody>
          <a:bodyPr wrap="square" rtlCol="0" anchor="ctr"/>
          <a:lstStyle/>
          <a:p>
            <a:pPr indent="0" marL="0">
              <a:buNone/>
            </a:pPr>
            <a:r>
              <a:rPr lang="en-US" sz="1350" dirty="0">
                <a:solidFill>
                  <a:srgbClr val="22262B"/>
                </a:solidFill>
                <a:latin typeface="Calibri" pitchFamily="34" charset="0"/>
                <a:ea typeface="Calibri" pitchFamily="34" charset="-122"/>
                <a:cs typeface="Calibri" pitchFamily="34" charset="-120"/>
              </a:rPr>
              <a:t>MathWorks Documentation: Simulink Multibody joint blocks (mathworks.com)</a:t>
            </a:r>
            <a:endParaRPr lang="en-US" sz="1350" dirty="0"/>
          </a:p>
        </p:txBody>
      </p:sp>
      <p:sp>
        <p:nvSpPr>
          <p:cNvPr id="20" name="Text 1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CT322 · Robotics and Automation · 4-DOF Articulated Robotic Arm</a:t>
            </a:r>
            <a:endParaRPr lang="en-US" sz="900" dirty="0"/>
          </a:p>
        </p:txBody>
      </p:sp>
      <p:sp>
        <p:nvSpPr>
          <p:cNvPr id="21"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2026-07-18T13:23:03Z</dcterms:created>
  <dcterms:modified xsi:type="dcterms:W3CDTF">2026-07-18T13:23:04Z</dcterms:modified>
</cp:coreProperties>
</file>